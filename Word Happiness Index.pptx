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Lato" panose="020F0502020204030203" pitchFamily="34" charset="0"/>
      <p:regular r:id="rId27"/>
      <p:bold r:id="rId28"/>
      <p:italic r:id="rId29"/>
      <p:boldItalic r:id="rId30"/>
    </p:embeddedFont>
    <p:embeddedFont>
      <p:font typeface="Lato Black" panose="020F0502020204030204" pitchFamily="34" charset="0"/>
      <p:bold r:id="rId31"/>
      <p:italic r:id="rId32"/>
      <p:boldItalic r:id="rId33"/>
    </p:embeddedFont>
    <p:embeddedFont>
      <p:font typeface="Raleway" pitchFamily="2" charset="77"/>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jHF8yXHdE5Ui2dLoAjF86BaAXW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E97370-DAB5-4002-AD25-9BC731B3A165}">
  <a:tblStyle styleId="{DCE97370-DAB5-4002-AD25-9BC731B3A1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705"/>
  </p:normalViewPr>
  <p:slideViewPr>
    <p:cSldViewPr snapToGrid="0" snapToObjects="1">
      <p:cViewPr varScale="1">
        <p:scale>
          <a:sx n="138" d="100"/>
          <a:sy n="138" d="100"/>
        </p:scale>
        <p:origin x="6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 name="Google Shape;4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highlight>
                  <a:srgbClr val="FFFFFF"/>
                </a:highlight>
              </a:rPr>
              <a:t>"True happiness is when are free of appointments and tipsy"</a:t>
            </a:r>
            <a:endParaRPr/>
          </a:p>
        </p:txBody>
      </p:sp>
      <p:sp>
        <p:nvSpPr>
          <p:cNvPr id="74" name="Google Shape;74;p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GDP from gapminder </a:t>
            </a:r>
            <a:endParaRPr/>
          </a:p>
          <a:p>
            <a:pPr marL="0" lvl="0" indent="0" algn="l" rtl="0">
              <a:spcBef>
                <a:spcPts val="0"/>
              </a:spcBef>
              <a:spcAft>
                <a:spcPts val="0"/>
              </a:spcAft>
              <a:buNone/>
            </a:pPr>
            <a:r>
              <a:rPr lang="en-US"/>
              <a:t>Gender Inequality from World Bank </a:t>
            </a:r>
            <a:endParaRPr/>
          </a:p>
          <a:p>
            <a:pPr marL="0" lvl="0" indent="0" algn="l" rtl="0">
              <a:spcBef>
                <a:spcPts val="0"/>
              </a:spcBef>
              <a:spcAft>
                <a:spcPts val="0"/>
              </a:spcAft>
              <a:buNone/>
            </a:pPr>
            <a:r>
              <a:rPr lang="en-US"/>
              <a:t>Food Supply from Food and Agriculture Org. </a:t>
            </a:r>
            <a:endParaRPr/>
          </a:p>
          <a:p>
            <a:pPr marL="0" lvl="0" indent="0" algn="l" rtl="0">
              <a:spcBef>
                <a:spcPts val="0"/>
              </a:spcBef>
              <a:spcAft>
                <a:spcPts val="0"/>
              </a:spcAft>
              <a:buNone/>
            </a:pPr>
            <a:r>
              <a:rPr lang="en-US"/>
              <a:t>Alcohol consumption from FiveThirtyEight </a:t>
            </a:r>
            <a:endParaRPr/>
          </a:p>
        </p:txBody>
      </p:sp>
      <p:sp>
        <p:nvSpPr>
          <p:cNvPr id="94" name="Google Shape;94;p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ecf4c0a77_1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gaecf4c0a77_1_77: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aecf4c0a77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aecf4c0a77_1_17: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aecf4c0a7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gaecf4c0a77_1_7: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aecf4c0a77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gaecf4c0a77_1_26: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aecf4c0a77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aecf4c0a77_1_3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aecf4c0a77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aecf4c0a77_1_5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aecf4c0a77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aecf4c0a77_1_4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aecf4c0a77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aecf4c0a77_1_6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aecf4c0a77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gaecf4c0a77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1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1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18"/>
          <p:cNvSpPr/>
          <p:nvPr/>
        </p:nvSpPr>
        <p:spPr>
          <a:xfrm>
            <a:off x="7356366" y="5066325"/>
            <a:ext cx="893700" cy="77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18"/>
          <p:cNvSpPr/>
          <p:nvPr/>
        </p:nvSpPr>
        <p:spPr>
          <a:xfrm>
            <a:off x="8250312" y="5066325"/>
            <a:ext cx="893700" cy="77100"/>
          </a:xfrm>
          <a:prstGeom prst="rect">
            <a:avLst/>
          </a:prstGeom>
          <a:solidFill>
            <a:srgbClr val="FDB5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8"/>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8"/>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18"/>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marL="0" lvl="0"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1pPr>
            <a:lvl2pPr marL="0" lvl="1"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2pPr>
            <a:lvl3pPr marL="0" lvl="2"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3pPr>
            <a:lvl4pPr marL="0" lvl="3"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4pPr>
            <a:lvl5pPr marL="0" lvl="4"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5pPr>
            <a:lvl6pPr marL="0" lvl="5"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6pPr>
            <a:lvl7pPr marL="0" lvl="6"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7pPr>
            <a:lvl8pPr marL="0" lvl="7"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8pPr>
            <a:lvl9pPr marL="0" lvl="8"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19"/>
          <p:cNvSpPr/>
          <p:nvPr/>
        </p:nvSpPr>
        <p:spPr>
          <a:xfrm>
            <a:off x="7356366" y="5066325"/>
            <a:ext cx="893700" cy="77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19"/>
          <p:cNvSpPr/>
          <p:nvPr/>
        </p:nvSpPr>
        <p:spPr>
          <a:xfrm>
            <a:off x="8250312" y="5066325"/>
            <a:ext cx="893700" cy="77100"/>
          </a:xfrm>
          <a:prstGeom prst="rect">
            <a:avLst/>
          </a:prstGeom>
          <a:solidFill>
            <a:srgbClr val="FDB5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9"/>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9"/>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19"/>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solidFill>
                  <a:srgbClr val="262626"/>
                </a:solidFill>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21" name="Google Shape;21;p19"/>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marL="0" lvl="0"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1pPr>
            <a:lvl2pPr marL="0" lvl="1"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2pPr>
            <a:lvl3pPr marL="0" lvl="2"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3pPr>
            <a:lvl4pPr marL="0" lvl="3"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4pPr>
            <a:lvl5pPr marL="0" lvl="4"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5pPr>
            <a:lvl6pPr marL="0" lvl="5"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6pPr>
            <a:lvl7pPr marL="0" lvl="6"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7pPr>
            <a:lvl8pPr marL="0" lvl="7"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8pPr>
            <a:lvl9pPr marL="0" lvl="8"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2"/>
        <p:cNvGrpSpPr/>
        <p:nvPr/>
      </p:nvGrpSpPr>
      <p:grpSpPr>
        <a:xfrm>
          <a:off x="0" y="0"/>
          <a:ext cx="0" cy="0"/>
          <a:chOff x="0" y="0"/>
          <a:chExt cx="0" cy="0"/>
        </a:xfrm>
      </p:grpSpPr>
      <p:sp>
        <p:nvSpPr>
          <p:cNvPr id="23" name="Google Shape;23;p20"/>
          <p:cNvSpPr txBox="1">
            <a:spLocks noGrp="1"/>
          </p:cNvSpPr>
          <p:nvPr>
            <p:ph type="title"/>
          </p:nvPr>
        </p:nvSpPr>
        <p:spPr>
          <a:xfrm>
            <a:off x="493652" y="268583"/>
            <a:ext cx="6462600" cy="857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solidFill>
                  <a:srgbClr val="262626"/>
                </a:solidFill>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24" name="Google Shape;24;p20"/>
          <p:cNvSpPr txBox="1">
            <a:spLocks noGrp="1"/>
          </p:cNvSpPr>
          <p:nvPr>
            <p:ph type="body" idx="1"/>
          </p:nvPr>
        </p:nvSpPr>
        <p:spPr>
          <a:xfrm>
            <a:off x="493652" y="1373588"/>
            <a:ext cx="6462600" cy="35523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Clr>
                <a:srgbClr val="FDB519"/>
              </a:buClr>
              <a:buSzPts val="1800"/>
              <a:buFont typeface="Arial"/>
              <a:buChar char="•"/>
              <a:defRPr>
                <a:solidFill>
                  <a:schemeClr val="dk1"/>
                </a:solidFill>
              </a:defRPr>
            </a:lvl1pPr>
            <a:lvl2pPr marL="914400" lvl="1" indent="-381000" algn="l">
              <a:lnSpc>
                <a:spcPct val="100000"/>
              </a:lnSpc>
              <a:spcBef>
                <a:spcPts val="0"/>
              </a:spcBef>
              <a:spcAft>
                <a:spcPts val="0"/>
              </a:spcAft>
              <a:buClr>
                <a:schemeClr val="dk1"/>
              </a:buClr>
              <a:buSzPts val="2400"/>
              <a:buChar char="○"/>
              <a:defRPr>
                <a:solidFill>
                  <a:schemeClr val="dk1"/>
                </a:solidFill>
              </a:defRPr>
            </a:lvl2pPr>
            <a:lvl3pPr marL="1371600" lvl="2" indent="-381000" algn="l">
              <a:lnSpc>
                <a:spcPct val="100000"/>
              </a:lnSpc>
              <a:spcBef>
                <a:spcPts val="0"/>
              </a:spcBef>
              <a:spcAft>
                <a:spcPts val="0"/>
              </a:spcAft>
              <a:buClr>
                <a:schemeClr val="dk1"/>
              </a:buClr>
              <a:buSzPts val="2400"/>
              <a:buChar char="■"/>
              <a:defRPr>
                <a:solidFill>
                  <a:schemeClr val="dk1"/>
                </a:solidFill>
              </a:defRPr>
            </a:lvl3pPr>
            <a:lvl4pPr marL="1828800" lvl="3" indent="-381000" algn="l">
              <a:lnSpc>
                <a:spcPct val="100000"/>
              </a:lnSpc>
              <a:spcBef>
                <a:spcPts val="0"/>
              </a:spcBef>
              <a:spcAft>
                <a:spcPts val="0"/>
              </a:spcAft>
              <a:buClr>
                <a:schemeClr val="dk1"/>
              </a:buClr>
              <a:buSzPts val="2400"/>
              <a:buChar char="●"/>
              <a:defRPr>
                <a:solidFill>
                  <a:schemeClr val="dk1"/>
                </a:solidFill>
              </a:defRPr>
            </a:lvl4pPr>
            <a:lvl5pPr marL="2286000" lvl="4" indent="-381000" algn="l">
              <a:lnSpc>
                <a:spcPct val="100000"/>
              </a:lnSpc>
              <a:spcBef>
                <a:spcPts val="0"/>
              </a:spcBef>
              <a:spcAft>
                <a:spcPts val="0"/>
              </a:spcAft>
              <a:buClr>
                <a:schemeClr val="dk1"/>
              </a:buClr>
              <a:buSzPts val="2400"/>
              <a:buChar char="○"/>
              <a:defRPr>
                <a:solidFill>
                  <a:schemeClr val="dk1"/>
                </a:solidFill>
              </a:defRPr>
            </a:lvl5pPr>
            <a:lvl6pPr marL="2743200" lvl="5" indent="-381000" algn="l">
              <a:lnSpc>
                <a:spcPct val="100000"/>
              </a:lnSpc>
              <a:spcBef>
                <a:spcPts val="0"/>
              </a:spcBef>
              <a:spcAft>
                <a:spcPts val="0"/>
              </a:spcAft>
              <a:buClr>
                <a:schemeClr val="dk1"/>
              </a:buClr>
              <a:buSzPts val="2400"/>
              <a:buChar char="■"/>
              <a:defRPr>
                <a:solidFill>
                  <a:schemeClr val="dk1"/>
                </a:solidFill>
              </a:defRPr>
            </a:lvl6pPr>
            <a:lvl7pPr marL="3200400" lvl="6" indent="-381000" algn="l">
              <a:lnSpc>
                <a:spcPct val="100000"/>
              </a:lnSpc>
              <a:spcBef>
                <a:spcPts val="0"/>
              </a:spcBef>
              <a:spcAft>
                <a:spcPts val="0"/>
              </a:spcAft>
              <a:buClr>
                <a:schemeClr val="dk1"/>
              </a:buClr>
              <a:buSzPts val="2400"/>
              <a:buChar char="●"/>
              <a:defRPr>
                <a:solidFill>
                  <a:schemeClr val="dk1"/>
                </a:solidFill>
              </a:defRPr>
            </a:lvl7pPr>
            <a:lvl8pPr marL="3657600" lvl="7" indent="-381000" algn="l">
              <a:lnSpc>
                <a:spcPct val="100000"/>
              </a:lnSpc>
              <a:spcBef>
                <a:spcPts val="0"/>
              </a:spcBef>
              <a:spcAft>
                <a:spcPts val="0"/>
              </a:spcAft>
              <a:buClr>
                <a:schemeClr val="dk1"/>
              </a:buClr>
              <a:buSzPts val="2400"/>
              <a:buChar char="○"/>
              <a:defRPr>
                <a:solidFill>
                  <a:schemeClr val="dk1"/>
                </a:solidFill>
              </a:defRPr>
            </a:lvl8pPr>
            <a:lvl9pPr marL="4114800" lvl="8" indent="-381000" algn="l">
              <a:lnSpc>
                <a:spcPct val="100000"/>
              </a:lnSpc>
              <a:spcBef>
                <a:spcPts val="0"/>
              </a:spcBef>
              <a:spcAft>
                <a:spcPts val="0"/>
              </a:spcAft>
              <a:buClr>
                <a:schemeClr val="dk1"/>
              </a:buClr>
              <a:buSzPts val="2400"/>
              <a:buChar char="■"/>
              <a:defRPr>
                <a:solidFill>
                  <a:schemeClr val="dk1"/>
                </a:solidFill>
              </a:defRPr>
            </a:lvl9pPr>
          </a:lstStyle>
          <a:p>
            <a:endParaRPr/>
          </a:p>
        </p:txBody>
      </p:sp>
      <p:sp>
        <p:nvSpPr>
          <p:cNvPr id="25" name="Google Shape;25;p20"/>
          <p:cNvSpPr/>
          <p:nvPr/>
        </p:nvSpPr>
        <p:spPr>
          <a:xfrm>
            <a:off x="7356366" y="5066325"/>
            <a:ext cx="893700" cy="77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0"/>
          <p:cNvSpPr/>
          <p:nvPr/>
        </p:nvSpPr>
        <p:spPr>
          <a:xfrm>
            <a:off x="8250312" y="5066325"/>
            <a:ext cx="893700" cy="77100"/>
          </a:xfrm>
          <a:prstGeom prst="rect">
            <a:avLst/>
          </a:prstGeom>
          <a:solidFill>
            <a:srgbClr val="FDB5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0"/>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0"/>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20"/>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marL="0" lvl="0"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1pPr>
            <a:lvl2pPr marL="0" lvl="1"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2pPr>
            <a:lvl3pPr marL="0" lvl="2"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3pPr>
            <a:lvl4pPr marL="0" lvl="3"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4pPr>
            <a:lvl5pPr marL="0" lvl="4"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5pPr>
            <a:lvl6pPr marL="0" lvl="5"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6pPr>
            <a:lvl7pPr marL="0" lvl="6"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7pPr>
            <a:lvl8pPr marL="0" lvl="7"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8pPr>
            <a:lvl9pPr marL="0" lvl="8" indent="0" algn="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30"/>
        <p:cNvGrpSpPr/>
        <p:nvPr/>
      </p:nvGrpSpPr>
      <p:grpSpPr>
        <a:xfrm>
          <a:off x="0" y="0"/>
          <a:ext cx="0" cy="0"/>
          <a:chOff x="0" y="0"/>
          <a:chExt cx="0" cy="0"/>
        </a:xfrm>
      </p:grpSpPr>
      <p:sp>
        <p:nvSpPr>
          <p:cNvPr id="31" name="Google Shape;31;p21"/>
          <p:cNvSpPr txBox="1">
            <a:spLocks noGrp="1"/>
          </p:cNvSpPr>
          <p:nvPr>
            <p:ph type="body" idx="1"/>
          </p:nvPr>
        </p:nvSpPr>
        <p:spPr>
          <a:xfrm>
            <a:off x="1710425" y="2161800"/>
            <a:ext cx="5723700" cy="819900"/>
          </a:xfrm>
          <a:prstGeom prst="rect">
            <a:avLst/>
          </a:prstGeom>
          <a:noFill/>
          <a:ln>
            <a:noFill/>
          </a:ln>
        </p:spPr>
        <p:txBody>
          <a:bodyPr spcFirstLastPara="1" wrap="square" lIns="91425" tIns="91425" rIns="91425" bIns="91425" anchor="t" anchorCtr="0">
            <a:noAutofit/>
          </a:bodyPr>
          <a:lstStyle>
            <a:lvl1pPr marL="457200" lvl="0" indent="-381000" algn="ctr">
              <a:lnSpc>
                <a:spcPct val="100000"/>
              </a:lnSpc>
              <a:spcBef>
                <a:spcPts val="600"/>
              </a:spcBef>
              <a:spcAft>
                <a:spcPts val="0"/>
              </a:spcAft>
              <a:buSzPts val="2400"/>
              <a:buChar char="▷"/>
              <a:defRPr i="1">
                <a:solidFill>
                  <a:schemeClr val="dk1"/>
                </a:solidFill>
              </a:defRPr>
            </a:lvl1pPr>
            <a:lvl2pPr marL="914400" lvl="1" indent="-381000" algn="ctr">
              <a:lnSpc>
                <a:spcPct val="100000"/>
              </a:lnSpc>
              <a:spcBef>
                <a:spcPts val="0"/>
              </a:spcBef>
              <a:spcAft>
                <a:spcPts val="0"/>
              </a:spcAft>
              <a:buSzPts val="2400"/>
              <a:buChar char="○"/>
              <a:defRPr i="1"/>
            </a:lvl2pPr>
            <a:lvl3pPr marL="1371600" lvl="2" indent="-381000" algn="ctr">
              <a:lnSpc>
                <a:spcPct val="100000"/>
              </a:lnSpc>
              <a:spcBef>
                <a:spcPts val="0"/>
              </a:spcBef>
              <a:spcAft>
                <a:spcPts val="0"/>
              </a:spcAft>
              <a:buSzPts val="2400"/>
              <a:buChar char="■"/>
              <a:defRPr i="1"/>
            </a:lvl3pPr>
            <a:lvl4pPr marL="1828800" lvl="3" indent="-381000" algn="ctr">
              <a:lnSpc>
                <a:spcPct val="100000"/>
              </a:lnSpc>
              <a:spcBef>
                <a:spcPts val="0"/>
              </a:spcBef>
              <a:spcAft>
                <a:spcPts val="0"/>
              </a:spcAft>
              <a:buSzPts val="2400"/>
              <a:buChar char="●"/>
              <a:defRPr i="1"/>
            </a:lvl4pPr>
            <a:lvl5pPr marL="2286000" lvl="4" indent="-381000" algn="ctr">
              <a:lnSpc>
                <a:spcPct val="100000"/>
              </a:lnSpc>
              <a:spcBef>
                <a:spcPts val="0"/>
              </a:spcBef>
              <a:spcAft>
                <a:spcPts val="0"/>
              </a:spcAft>
              <a:buSzPts val="2400"/>
              <a:buChar char="○"/>
              <a:defRPr i="1"/>
            </a:lvl5pPr>
            <a:lvl6pPr marL="2743200" lvl="5" indent="-381000" algn="ctr">
              <a:lnSpc>
                <a:spcPct val="100000"/>
              </a:lnSpc>
              <a:spcBef>
                <a:spcPts val="0"/>
              </a:spcBef>
              <a:spcAft>
                <a:spcPts val="0"/>
              </a:spcAft>
              <a:buSzPts val="2400"/>
              <a:buChar char="■"/>
              <a:defRPr i="1"/>
            </a:lvl6pPr>
            <a:lvl7pPr marL="3200400" lvl="6" indent="-381000" algn="ctr">
              <a:lnSpc>
                <a:spcPct val="100000"/>
              </a:lnSpc>
              <a:spcBef>
                <a:spcPts val="0"/>
              </a:spcBef>
              <a:spcAft>
                <a:spcPts val="0"/>
              </a:spcAft>
              <a:buSzPts val="2400"/>
              <a:buChar char="●"/>
              <a:defRPr i="1"/>
            </a:lvl7pPr>
            <a:lvl8pPr marL="3657600" lvl="7" indent="-381000" algn="ctr">
              <a:lnSpc>
                <a:spcPct val="100000"/>
              </a:lnSpc>
              <a:spcBef>
                <a:spcPts val="0"/>
              </a:spcBef>
              <a:spcAft>
                <a:spcPts val="0"/>
              </a:spcAft>
              <a:buSzPts val="2400"/>
              <a:buChar char="○"/>
              <a:defRPr i="1"/>
            </a:lvl8pPr>
            <a:lvl9pPr marL="4114800" lvl="8" indent="-381000" algn="ctr">
              <a:lnSpc>
                <a:spcPct val="100000"/>
              </a:lnSpc>
              <a:spcBef>
                <a:spcPts val="0"/>
              </a:spcBef>
              <a:spcAft>
                <a:spcPts val="0"/>
              </a:spcAft>
              <a:buSzPts val="2400"/>
              <a:buChar char="■"/>
              <a:defRPr i="1"/>
            </a:lvl9pPr>
          </a:lstStyle>
          <a:p>
            <a:endParaRPr/>
          </a:p>
        </p:txBody>
      </p:sp>
      <p:sp>
        <p:nvSpPr>
          <p:cNvPr id="32" name="Google Shape;32;p21"/>
          <p:cNvSpPr txBox="1"/>
          <p:nvPr/>
        </p:nvSpPr>
        <p:spPr>
          <a:xfrm>
            <a:off x="3593400" y="1181419"/>
            <a:ext cx="1957200" cy="653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9600"/>
              <a:buFont typeface="Arial"/>
              <a:buNone/>
            </a:pPr>
            <a:r>
              <a:rPr lang="en-US" sz="9600" b="1" i="0" u="none" strike="noStrike" cap="none">
                <a:solidFill>
                  <a:srgbClr val="FDB519"/>
                </a:solidFill>
                <a:latin typeface="Arial"/>
                <a:ea typeface="Arial"/>
                <a:cs typeface="Arial"/>
                <a:sym typeface="Arial"/>
              </a:rPr>
              <a:t>“</a:t>
            </a:r>
            <a:endParaRPr sz="9600" b="1" i="0" u="none" strike="noStrike" cap="none">
              <a:solidFill>
                <a:srgbClr val="FDB519"/>
              </a:solidFill>
              <a:latin typeface="Arial"/>
              <a:ea typeface="Arial"/>
              <a:cs typeface="Arial"/>
              <a:sym typeface="Arial"/>
            </a:endParaRPr>
          </a:p>
        </p:txBody>
      </p:sp>
      <p:sp>
        <p:nvSpPr>
          <p:cNvPr id="33" name="Google Shape;33;p21"/>
          <p:cNvSpPr/>
          <p:nvPr/>
        </p:nvSpPr>
        <p:spPr>
          <a:xfrm>
            <a:off x="5723283" y="1599675"/>
            <a:ext cx="1710300" cy="77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1"/>
          <p:cNvSpPr/>
          <p:nvPr/>
        </p:nvSpPr>
        <p:spPr>
          <a:xfrm>
            <a:off x="7434177" y="1599675"/>
            <a:ext cx="1710300" cy="77100"/>
          </a:xfrm>
          <a:prstGeom prst="rect">
            <a:avLst/>
          </a:prstGeom>
          <a:solidFill>
            <a:srgbClr val="FDB5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21"/>
          <p:cNvSpPr/>
          <p:nvPr/>
        </p:nvSpPr>
        <p:spPr>
          <a:xfrm>
            <a:off x="0" y="1599675"/>
            <a:ext cx="1710300" cy="77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1"/>
          <p:cNvSpPr/>
          <p:nvPr/>
        </p:nvSpPr>
        <p:spPr>
          <a:xfrm>
            <a:off x="1710425" y="1599675"/>
            <a:ext cx="1710300" cy="7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1"/>
          <p:cNvSpPr txBox="1">
            <a:spLocks noGrp="1"/>
          </p:cNvSpPr>
          <p:nvPr>
            <p:ph type="sldNum" idx="12"/>
          </p:nvPr>
        </p:nvSpPr>
        <p:spPr>
          <a:xfrm>
            <a:off x="-125" y="4830281"/>
            <a:ext cx="9144000" cy="313500"/>
          </a:xfrm>
          <a:prstGeom prst="rect">
            <a:avLst/>
          </a:prstGeom>
          <a:noFill/>
          <a:ln>
            <a:noFill/>
          </a:ln>
        </p:spPr>
        <p:txBody>
          <a:bodyPr spcFirstLastPara="1" wrap="square" lIns="91425" tIns="91425" rIns="91425" bIns="91425" anchor="t" anchorCtr="0">
            <a:noAutofit/>
          </a:bodyPr>
          <a:lstStyle>
            <a:lvl1pPr marL="0" lvl="0"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1pPr>
            <a:lvl2pPr marL="0" lvl="1"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2pPr>
            <a:lvl3pPr marL="0" lvl="2"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3pPr>
            <a:lvl4pPr marL="0" lvl="3"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4pPr>
            <a:lvl5pPr marL="0" lvl="4"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5pPr>
            <a:lvl6pPr marL="0" lvl="5"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6pPr>
            <a:lvl7pPr marL="0" lvl="6"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7pPr>
            <a:lvl8pPr marL="0" lvl="7"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8pPr>
            <a:lvl9pPr marL="0" lvl="8" indent="0" algn="ctr">
              <a:lnSpc>
                <a:spcPct val="100000"/>
              </a:lnSpc>
              <a:spcBef>
                <a:spcPts val="0"/>
              </a:spcBef>
              <a:spcAft>
                <a:spcPts val="0"/>
              </a:spcAft>
              <a:buSzPts val="1300"/>
              <a:buNone/>
              <a:defRPr sz="1300" b="0" i="0" u="none" strike="noStrike" cap="none">
                <a:solidFill>
                  <a:schemeClr val="dk1"/>
                </a:solidFill>
                <a:latin typeface="Lato"/>
                <a:ea typeface="Lato"/>
                <a:cs typeface="Lato"/>
                <a:sym typeface="Lato"/>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color background">
  <p:cSld name="BLANK_1">
    <p:bg>
      <p:bgPr>
        <a:solidFill>
          <a:schemeClr val="accent1"/>
        </a:solidFill>
        <a:effectLst/>
      </p:bgPr>
    </p:bg>
    <p:spTree>
      <p:nvGrpSpPr>
        <p:cNvPr id="1" name="Shape 38"/>
        <p:cNvGrpSpPr/>
        <p:nvPr/>
      </p:nvGrpSpPr>
      <p:grpSpPr>
        <a:xfrm>
          <a:off x="0" y="0"/>
          <a:ext cx="0" cy="0"/>
          <a:chOff x="0" y="0"/>
          <a:chExt cx="0" cy="0"/>
        </a:xfrm>
      </p:grpSpPr>
      <p:sp>
        <p:nvSpPr>
          <p:cNvPr id="39" name="Google Shape;39;p22"/>
          <p:cNvSpPr/>
          <p:nvPr/>
        </p:nvSpPr>
        <p:spPr>
          <a:xfrm>
            <a:off x="7356366" y="5066325"/>
            <a:ext cx="893700" cy="77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22"/>
          <p:cNvSpPr/>
          <p:nvPr/>
        </p:nvSpPr>
        <p:spPr>
          <a:xfrm>
            <a:off x="8250312" y="5066325"/>
            <a:ext cx="893700" cy="77100"/>
          </a:xfrm>
          <a:prstGeom prst="rect">
            <a:avLst/>
          </a:prstGeom>
          <a:solidFill>
            <a:srgbClr val="FDB51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2"/>
          <p:cNvSpPr/>
          <p:nvPr/>
        </p:nvSpPr>
        <p:spPr>
          <a:xfrm>
            <a:off x="0" y="5066325"/>
            <a:ext cx="893700" cy="77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22"/>
          <p:cNvSpPr/>
          <p:nvPr/>
        </p:nvSpPr>
        <p:spPr>
          <a:xfrm>
            <a:off x="893710" y="5066325"/>
            <a:ext cx="6462600" cy="77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2"/>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1pPr>
            <a:lvl2pPr marR="0" lvl="1"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2pPr>
            <a:lvl3pPr marR="0" lvl="2"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3pPr>
            <a:lvl4pPr marR="0" lvl="3"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4pPr>
            <a:lvl5pPr marR="0" lvl="4"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5pPr>
            <a:lvl6pPr marR="0" lvl="5"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6pPr>
            <a:lvl7pPr marR="0" lvl="6"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7pPr>
            <a:lvl8pPr marR="0" lvl="7"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8pPr>
            <a:lvl9pPr marR="0" lvl="8"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9pPr>
          </a:lstStyle>
          <a:p>
            <a:endParaRPr/>
          </a:p>
        </p:txBody>
      </p:sp>
      <p:sp>
        <p:nvSpPr>
          <p:cNvPr id="7" name="Google Shape;7;p17"/>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endParaRPr/>
          </a:p>
        </p:txBody>
      </p:sp>
      <p:sp>
        <p:nvSpPr>
          <p:cNvPr id="8" name="Google Shape;8;p17"/>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
          <p:cNvSpPr txBox="1">
            <a:spLocks noGrp="1"/>
          </p:cNvSpPr>
          <p:nvPr>
            <p:ph type="ctrTitle" idx="4294967295"/>
          </p:nvPr>
        </p:nvSpPr>
        <p:spPr>
          <a:xfrm>
            <a:off x="846355" y="623263"/>
            <a:ext cx="6338215" cy="1948487"/>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6"/>
              </a:buClr>
              <a:buSzPts val="3200"/>
              <a:buFont typeface="Raleway"/>
              <a:buNone/>
            </a:pPr>
            <a:r>
              <a:rPr lang="en-US" sz="5500" b="1" i="0" u="none" strike="noStrike" cap="none">
                <a:solidFill>
                  <a:schemeClr val="accent1"/>
                </a:solidFill>
                <a:latin typeface="Raleway"/>
                <a:ea typeface="Raleway"/>
                <a:cs typeface="Raleway"/>
                <a:sym typeface="Raleway"/>
              </a:rPr>
              <a:t>What drives happiness?</a:t>
            </a:r>
            <a:endParaRPr sz="5500" b="1" i="0" u="none" strike="noStrike" cap="none">
              <a:solidFill>
                <a:schemeClr val="accent1"/>
              </a:solidFill>
              <a:latin typeface="Raleway"/>
              <a:ea typeface="Raleway"/>
              <a:cs typeface="Raleway"/>
              <a:sym typeface="Raleway"/>
            </a:endParaRPr>
          </a:p>
        </p:txBody>
      </p:sp>
      <p:pic>
        <p:nvPicPr>
          <p:cNvPr id="49" name="Google Shape;49;p1" descr="A picture containing person, wearing&#10;&#10;Description automatically generated"/>
          <p:cNvPicPr preferRelativeResize="0"/>
          <p:nvPr/>
        </p:nvPicPr>
        <p:blipFill rotWithShape="1">
          <a:blip r:embed="rId3">
            <a:alphaModFix/>
          </a:blip>
          <a:srcRect/>
          <a:stretch/>
        </p:blipFill>
        <p:spPr>
          <a:xfrm>
            <a:off x="7352128" y="2176803"/>
            <a:ext cx="1791872" cy="1194581"/>
          </a:xfrm>
          <a:prstGeom prst="rect">
            <a:avLst/>
          </a:prstGeom>
          <a:noFill/>
          <a:ln>
            <a:noFill/>
          </a:ln>
        </p:spPr>
      </p:pic>
      <p:pic>
        <p:nvPicPr>
          <p:cNvPr id="50" name="Google Shape;50;p1" descr="A picture containing person, bottle, alcohol, beverage&#10;&#10;Description automatically generated"/>
          <p:cNvPicPr preferRelativeResize="0"/>
          <p:nvPr/>
        </p:nvPicPr>
        <p:blipFill rotWithShape="1">
          <a:blip r:embed="rId4">
            <a:alphaModFix/>
          </a:blip>
          <a:srcRect t="14255" b="22188"/>
          <a:stretch/>
        </p:blipFill>
        <p:spPr>
          <a:xfrm>
            <a:off x="7352128" y="3361516"/>
            <a:ext cx="1791872" cy="1708238"/>
          </a:xfrm>
          <a:prstGeom prst="rect">
            <a:avLst/>
          </a:prstGeom>
          <a:noFill/>
          <a:ln>
            <a:noFill/>
          </a:ln>
        </p:spPr>
      </p:pic>
      <p:pic>
        <p:nvPicPr>
          <p:cNvPr id="51" name="Google Shape;51;p1"/>
          <p:cNvPicPr preferRelativeResize="0"/>
          <p:nvPr/>
        </p:nvPicPr>
        <p:blipFill rotWithShape="1">
          <a:blip r:embed="rId5">
            <a:alphaModFix/>
          </a:blip>
          <a:srcRect/>
          <a:stretch/>
        </p:blipFill>
        <p:spPr>
          <a:xfrm>
            <a:off x="7352128" y="992091"/>
            <a:ext cx="1791872" cy="1194581"/>
          </a:xfrm>
          <a:prstGeom prst="rect">
            <a:avLst/>
          </a:prstGeom>
          <a:noFill/>
          <a:ln>
            <a:noFill/>
          </a:ln>
        </p:spPr>
      </p:pic>
      <p:pic>
        <p:nvPicPr>
          <p:cNvPr id="52" name="Google Shape;52;p1"/>
          <p:cNvPicPr preferRelativeResize="0"/>
          <p:nvPr/>
        </p:nvPicPr>
        <p:blipFill rotWithShape="1">
          <a:blip r:embed="rId6">
            <a:alphaModFix/>
          </a:blip>
          <a:srcRect t="11723"/>
          <a:stretch/>
        </p:blipFill>
        <p:spPr>
          <a:xfrm>
            <a:off x="7352128" y="0"/>
            <a:ext cx="1791872" cy="1001960"/>
          </a:xfrm>
          <a:prstGeom prst="rect">
            <a:avLst/>
          </a:prstGeom>
          <a:noFill/>
          <a:ln>
            <a:noFill/>
          </a:ln>
        </p:spPr>
      </p:pic>
      <p:sp>
        <p:nvSpPr>
          <p:cNvPr id="53" name="Google Shape;53;p1"/>
          <p:cNvSpPr txBox="1">
            <a:spLocks noGrp="1"/>
          </p:cNvSpPr>
          <p:nvPr>
            <p:ph type="subTitle" idx="4294967295"/>
          </p:nvPr>
        </p:nvSpPr>
        <p:spPr>
          <a:xfrm>
            <a:off x="846356" y="2448778"/>
            <a:ext cx="5423815" cy="1147862"/>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accent6"/>
              </a:buClr>
              <a:buSzPts val="2400"/>
              <a:buFont typeface="Lato"/>
              <a:buNone/>
            </a:pPr>
            <a:r>
              <a:rPr lang="en-US" sz="2500" b="0" i="0" u="none" strike="noStrike" cap="none">
                <a:solidFill>
                  <a:srgbClr val="FDB519"/>
                </a:solidFill>
                <a:latin typeface="Lato"/>
                <a:ea typeface="Lato"/>
                <a:cs typeface="Lato"/>
                <a:sym typeface="Lato"/>
              </a:rPr>
              <a:t>Exploring different happiness myths using the World Happiness Report.</a:t>
            </a:r>
            <a:endParaRPr sz="2500" b="0" i="0" u="none" strike="noStrike" cap="none">
              <a:solidFill>
                <a:srgbClr val="FDB519"/>
              </a:solidFill>
              <a:latin typeface="Lato"/>
              <a:ea typeface="Lato"/>
              <a:cs typeface="Lato"/>
              <a:sym typeface="Lato"/>
            </a:endParaRPr>
          </a:p>
        </p:txBody>
      </p:sp>
      <p:sp>
        <p:nvSpPr>
          <p:cNvPr id="55" name="Google Shape;55;p1"/>
          <p:cNvSpPr/>
          <p:nvPr/>
        </p:nvSpPr>
        <p:spPr>
          <a:xfrm>
            <a:off x="7352128" y="0"/>
            <a:ext cx="1791872" cy="5069754"/>
          </a:xfrm>
          <a:prstGeom prst="rect">
            <a:avLst/>
          </a:prstGeom>
          <a:solidFill>
            <a:schemeClr val="dk1">
              <a:alpha val="32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 name="Google Shape;56;p1"/>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662256" y="368013"/>
            <a:ext cx="6462600" cy="857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a:t>What we’ll cover today</a:t>
            </a:r>
            <a:endParaRPr/>
          </a:p>
        </p:txBody>
      </p:sp>
      <p:grpSp>
        <p:nvGrpSpPr>
          <p:cNvPr id="62" name="Google Shape;62;p2"/>
          <p:cNvGrpSpPr/>
          <p:nvPr/>
        </p:nvGrpSpPr>
        <p:grpSpPr>
          <a:xfrm>
            <a:off x="5632317" y="2002063"/>
            <a:ext cx="3305700" cy="2612288"/>
            <a:chOff x="5632317" y="1189775"/>
            <a:chExt cx="3305700" cy="3483050"/>
          </a:xfrm>
        </p:grpSpPr>
        <p:sp>
          <p:nvSpPr>
            <p:cNvPr id="63" name="Google Shape;63;p2"/>
            <p:cNvSpPr/>
            <p:nvPr/>
          </p:nvSpPr>
          <p:spPr>
            <a:xfrm>
              <a:off x="5632317" y="1189775"/>
              <a:ext cx="3305700" cy="669000"/>
            </a:xfrm>
            <a:prstGeom prst="chevron">
              <a:avLst>
                <a:gd name="adj" fmla="val 50000"/>
              </a:avLst>
            </a:prstGeom>
            <a:solidFill>
              <a:srgbClr val="FDB519"/>
            </a:solid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600" b="1" i="0" u="none" strike="noStrike" cap="none">
                  <a:solidFill>
                    <a:schemeClr val="lt1"/>
                  </a:solidFill>
                  <a:latin typeface="Raleway"/>
                  <a:ea typeface="Raleway"/>
                  <a:cs typeface="Raleway"/>
                  <a:sym typeface="Raleway"/>
                </a:rPr>
                <a:t>Discussion and Critique</a:t>
              </a:r>
              <a:endParaRPr sz="1600" b="1" i="0" u="none" strike="noStrike" cap="none">
                <a:solidFill>
                  <a:schemeClr val="lt1"/>
                </a:solidFill>
                <a:latin typeface="Lato"/>
                <a:ea typeface="Lato"/>
                <a:cs typeface="Lato"/>
                <a:sym typeface="Lato"/>
              </a:endParaRPr>
            </a:p>
          </p:txBody>
        </p:sp>
        <p:sp>
          <p:nvSpPr>
            <p:cNvPr id="64" name="Google Shape;64;p2"/>
            <p:cNvSpPr txBox="1"/>
            <p:nvPr/>
          </p:nvSpPr>
          <p:spPr>
            <a:xfrm>
              <a:off x="6167063" y="2057125"/>
              <a:ext cx="2236200" cy="2615700"/>
            </a:xfrm>
            <a:prstGeom prst="rect">
              <a:avLst/>
            </a:prstGeom>
            <a:noFill/>
            <a:ln>
              <a:noFill/>
            </a:ln>
          </p:spPr>
          <p:txBody>
            <a:bodyPr spcFirstLastPara="1" wrap="square" lIns="91425" tIns="91425" rIns="91425" bIns="91425" anchor="t" anchorCtr="0">
              <a:noAutofit/>
            </a:bodyPr>
            <a:lstStyle/>
            <a:p>
              <a:pPr marL="285750" marR="0" lvl="0" indent="-285750" algn="l" rtl="0">
                <a:lnSpc>
                  <a:spcPct val="115000"/>
                </a:lnSpc>
                <a:spcBef>
                  <a:spcPts val="0"/>
                </a:spcBef>
                <a:spcAft>
                  <a:spcPts val="0"/>
                </a:spcAft>
                <a:buClr>
                  <a:schemeClr val="dk1"/>
                </a:buClr>
                <a:buSzPts val="1100"/>
                <a:buFont typeface="Arial"/>
                <a:buChar char="•"/>
              </a:pPr>
              <a:r>
                <a:rPr lang="en-US" sz="1600" b="0" i="0" u="none" strike="noStrike" cap="none">
                  <a:solidFill>
                    <a:schemeClr val="dk1"/>
                  </a:solidFill>
                  <a:latin typeface="Lato"/>
                  <a:ea typeface="Lato"/>
                  <a:cs typeface="Lato"/>
                  <a:sym typeface="Lato"/>
                </a:rPr>
                <a:t>Limitations </a:t>
              </a:r>
              <a:endParaRPr/>
            </a:p>
            <a:p>
              <a:pPr marL="285750" marR="0" lvl="0" indent="-285750" algn="l" rtl="0">
                <a:lnSpc>
                  <a:spcPct val="115000"/>
                </a:lnSpc>
                <a:spcBef>
                  <a:spcPts val="0"/>
                </a:spcBef>
                <a:spcAft>
                  <a:spcPts val="0"/>
                </a:spcAft>
                <a:buClr>
                  <a:schemeClr val="dk1"/>
                </a:buClr>
                <a:buSzPts val="1100"/>
                <a:buFont typeface="Arial"/>
                <a:buChar char="•"/>
              </a:pPr>
              <a:r>
                <a:rPr lang="en-US" sz="1600" b="0" i="0" u="none" strike="noStrike" cap="none">
                  <a:solidFill>
                    <a:schemeClr val="dk1"/>
                  </a:solidFill>
                  <a:latin typeface="Lato"/>
                  <a:ea typeface="Lato"/>
                  <a:cs typeface="Lato"/>
                  <a:sym typeface="Lato"/>
                </a:rPr>
                <a:t>What advice we would give to future students </a:t>
              </a:r>
              <a:endParaRPr sz="1200" b="0" i="0" u="none" strike="noStrike" cap="none">
                <a:solidFill>
                  <a:schemeClr val="dk1"/>
                </a:solidFill>
                <a:latin typeface="Lato"/>
                <a:ea typeface="Lato"/>
                <a:cs typeface="Lato"/>
                <a:sym typeface="Lato"/>
              </a:endParaRPr>
            </a:p>
          </p:txBody>
        </p:sp>
      </p:grpSp>
      <p:grpSp>
        <p:nvGrpSpPr>
          <p:cNvPr id="65" name="Google Shape;65;p2"/>
          <p:cNvGrpSpPr/>
          <p:nvPr/>
        </p:nvGrpSpPr>
        <p:grpSpPr>
          <a:xfrm>
            <a:off x="0" y="2002224"/>
            <a:ext cx="3546900" cy="2612127"/>
            <a:chOff x="0" y="1189989"/>
            <a:chExt cx="3546900" cy="3482836"/>
          </a:xfrm>
        </p:grpSpPr>
        <p:sp>
          <p:nvSpPr>
            <p:cNvPr id="66" name="Google Shape;66;p2"/>
            <p:cNvSpPr/>
            <p:nvPr/>
          </p:nvSpPr>
          <p:spPr>
            <a:xfrm>
              <a:off x="0" y="1189989"/>
              <a:ext cx="3546900" cy="669000"/>
            </a:xfrm>
            <a:prstGeom prst="homePlate">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600" b="1" i="0" u="none" strike="noStrike" cap="none">
                  <a:solidFill>
                    <a:schemeClr val="lt1"/>
                  </a:solidFill>
                  <a:latin typeface="Raleway"/>
                  <a:ea typeface="Raleway"/>
                  <a:cs typeface="Raleway"/>
                  <a:sym typeface="Raleway"/>
                </a:rPr>
                <a:t>Purpose and Methodology</a:t>
              </a:r>
              <a:endParaRPr sz="1600" b="1" i="0" u="none" strike="noStrike" cap="none">
                <a:solidFill>
                  <a:schemeClr val="lt1"/>
                </a:solidFill>
                <a:latin typeface="Raleway"/>
                <a:ea typeface="Raleway"/>
                <a:cs typeface="Raleway"/>
                <a:sym typeface="Raleway"/>
              </a:endParaRPr>
            </a:p>
          </p:txBody>
        </p:sp>
        <p:sp>
          <p:nvSpPr>
            <p:cNvPr id="67" name="Google Shape;67;p2"/>
            <p:cNvSpPr txBox="1"/>
            <p:nvPr/>
          </p:nvSpPr>
          <p:spPr>
            <a:xfrm>
              <a:off x="655361" y="2057125"/>
              <a:ext cx="2236200" cy="2615700"/>
            </a:xfrm>
            <a:prstGeom prst="rect">
              <a:avLst/>
            </a:prstGeom>
            <a:noFill/>
            <a:ln>
              <a:noFill/>
            </a:ln>
          </p:spPr>
          <p:txBody>
            <a:bodyPr spcFirstLastPara="1" wrap="square" lIns="91425" tIns="91425" rIns="91425" bIns="91425" anchor="t" anchorCtr="0">
              <a:noAutofit/>
            </a:bodyPr>
            <a:lstStyle/>
            <a:p>
              <a:pPr marL="285750" marR="0" lvl="0" indent="-285750" algn="l" rtl="0">
                <a:lnSpc>
                  <a:spcPct val="115000"/>
                </a:lnSpc>
                <a:spcBef>
                  <a:spcPts val="0"/>
                </a:spcBef>
                <a:spcAft>
                  <a:spcPts val="0"/>
                </a:spcAft>
                <a:buClr>
                  <a:srgbClr val="000000"/>
                </a:buClr>
                <a:buSzPts val="1104"/>
                <a:buFont typeface="Arial"/>
                <a:buChar char="•"/>
              </a:pPr>
              <a:r>
                <a:rPr lang="en-US" sz="1600" b="0" i="0" u="none" strike="noStrike" cap="none">
                  <a:solidFill>
                    <a:schemeClr val="dk1"/>
                  </a:solidFill>
                  <a:latin typeface="Lato"/>
                  <a:ea typeface="Lato"/>
                  <a:cs typeface="Lato"/>
                  <a:sym typeface="Lato"/>
                </a:rPr>
                <a:t>Dataset overview </a:t>
              </a:r>
              <a:endParaRPr/>
            </a:p>
            <a:p>
              <a:pPr marL="285750" marR="0" lvl="0" indent="-285750" algn="l" rtl="0">
                <a:lnSpc>
                  <a:spcPct val="115000"/>
                </a:lnSpc>
                <a:spcBef>
                  <a:spcPts val="0"/>
                </a:spcBef>
                <a:spcAft>
                  <a:spcPts val="0"/>
                </a:spcAft>
                <a:buClr>
                  <a:srgbClr val="000000"/>
                </a:buClr>
                <a:buSzPts val="1104"/>
                <a:buFont typeface="Arial"/>
                <a:buChar char="•"/>
              </a:pPr>
              <a:r>
                <a:rPr lang="en-US" sz="1600" b="0" i="0" u="none" strike="noStrike" cap="none">
                  <a:solidFill>
                    <a:schemeClr val="dk1"/>
                  </a:solidFill>
                  <a:latin typeface="Lato"/>
                  <a:ea typeface="Lato"/>
                  <a:cs typeface="Lato"/>
                  <a:sym typeface="Lato"/>
                </a:rPr>
                <a:t>Questions and purpose </a:t>
              </a:r>
              <a:endParaRPr sz="1600" b="0" i="0" u="none" strike="noStrike" cap="none">
                <a:solidFill>
                  <a:schemeClr val="dk1"/>
                </a:solidFill>
                <a:latin typeface="Lato"/>
                <a:ea typeface="Lato"/>
                <a:cs typeface="Lato"/>
                <a:sym typeface="Lato"/>
              </a:endParaRPr>
            </a:p>
          </p:txBody>
        </p:sp>
      </p:grpSp>
      <p:grpSp>
        <p:nvGrpSpPr>
          <p:cNvPr id="68" name="Google Shape;68;p2"/>
          <p:cNvGrpSpPr/>
          <p:nvPr/>
        </p:nvGrpSpPr>
        <p:grpSpPr>
          <a:xfrm>
            <a:off x="2944204" y="2002063"/>
            <a:ext cx="3305700" cy="2612288"/>
            <a:chOff x="2944204" y="1189775"/>
            <a:chExt cx="3305700" cy="3483050"/>
          </a:xfrm>
        </p:grpSpPr>
        <p:sp>
          <p:nvSpPr>
            <p:cNvPr id="69" name="Google Shape;69;p2"/>
            <p:cNvSpPr/>
            <p:nvPr/>
          </p:nvSpPr>
          <p:spPr>
            <a:xfrm>
              <a:off x="2944204" y="1189775"/>
              <a:ext cx="3305700" cy="669000"/>
            </a:xfrm>
            <a:prstGeom prst="chevron">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600" b="1" i="0" u="none" strike="noStrike" cap="none">
                  <a:solidFill>
                    <a:schemeClr val="lt1"/>
                  </a:solidFill>
                  <a:latin typeface="Raleway"/>
                  <a:ea typeface="Raleway"/>
                  <a:cs typeface="Raleway"/>
                  <a:sym typeface="Raleway"/>
                </a:rPr>
                <a:t>Results and Conclusions</a:t>
              </a:r>
              <a:endParaRPr sz="1600" b="1" i="0" u="none" strike="noStrike" cap="none">
                <a:solidFill>
                  <a:schemeClr val="lt1"/>
                </a:solidFill>
                <a:latin typeface="Lato"/>
                <a:ea typeface="Lato"/>
                <a:cs typeface="Lato"/>
                <a:sym typeface="Lato"/>
              </a:endParaRPr>
            </a:p>
          </p:txBody>
        </p:sp>
        <p:sp>
          <p:nvSpPr>
            <p:cNvPr id="70" name="Google Shape;70;p2"/>
            <p:cNvSpPr txBox="1"/>
            <p:nvPr/>
          </p:nvSpPr>
          <p:spPr>
            <a:xfrm>
              <a:off x="3478949" y="2057125"/>
              <a:ext cx="2236200" cy="2615700"/>
            </a:xfrm>
            <a:prstGeom prst="rect">
              <a:avLst/>
            </a:prstGeom>
            <a:noFill/>
            <a:ln>
              <a:noFill/>
            </a:ln>
          </p:spPr>
          <p:txBody>
            <a:bodyPr spcFirstLastPara="1" wrap="square" lIns="91425" tIns="91425" rIns="91425" bIns="91425" anchor="t" anchorCtr="0">
              <a:noAutofit/>
            </a:bodyPr>
            <a:lstStyle/>
            <a:p>
              <a:pPr marL="285750" marR="0" lvl="0" indent="-285750" algn="l" rtl="0">
                <a:lnSpc>
                  <a:spcPct val="115000"/>
                </a:lnSpc>
                <a:spcBef>
                  <a:spcPts val="0"/>
                </a:spcBef>
                <a:spcAft>
                  <a:spcPts val="0"/>
                </a:spcAft>
                <a:buClr>
                  <a:schemeClr val="dk1"/>
                </a:buClr>
                <a:buSzPts val="1100"/>
                <a:buFont typeface="Arial"/>
                <a:buChar char="•"/>
              </a:pPr>
              <a:r>
                <a:rPr lang="en-US" sz="1600" b="0" i="0" u="none" strike="noStrike" cap="none">
                  <a:solidFill>
                    <a:schemeClr val="dk1"/>
                  </a:solidFill>
                  <a:latin typeface="Lato"/>
                  <a:ea typeface="Lato"/>
                  <a:cs typeface="Lato"/>
                  <a:sym typeface="Lato"/>
                </a:rPr>
                <a:t>Visualizations </a:t>
              </a:r>
              <a:endParaRPr/>
            </a:p>
            <a:p>
              <a:pPr marL="285750" marR="0" lvl="0" indent="-285750" algn="l" rtl="0">
                <a:lnSpc>
                  <a:spcPct val="115000"/>
                </a:lnSpc>
                <a:spcBef>
                  <a:spcPts val="0"/>
                </a:spcBef>
                <a:spcAft>
                  <a:spcPts val="0"/>
                </a:spcAft>
                <a:buClr>
                  <a:schemeClr val="dk1"/>
                </a:buClr>
                <a:buSzPts val="1100"/>
                <a:buFont typeface="Arial"/>
                <a:buChar char="•"/>
              </a:pPr>
              <a:r>
                <a:rPr lang="en-US" sz="1600" b="0" i="0" u="none" strike="noStrike" cap="none">
                  <a:solidFill>
                    <a:schemeClr val="dk1"/>
                  </a:solidFill>
                  <a:latin typeface="Lato"/>
                  <a:ea typeface="Lato"/>
                  <a:cs typeface="Lato"/>
                  <a:sym typeface="Lato"/>
                </a:rPr>
                <a:t>Final decision tree model </a:t>
              </a:r>
              <a:endParaRPr sz="1200" b="0" i="0" u="none" strike="noStrike" cap="none">
                <a:solidFill>
                  <a:schemeClr val="dk1"/>
                </a:solidFill>
                <a:latin typeface="Lato"/>
                <a:ea typeface="Lato"/>
                <a:cs typeface="Lato"/>
                <a:sym typeface="Lato"/>
              </a:endParaRPr>
            </a:p>
          </p:txBody>
        </p:sp>
      </p:grpSp>
      <p:sp>
        <p:nvSpPr>
          <p:cNvPr id="71" name="Google Shape;71;p2"/>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txBox="1">
            <a:spLocks noGrp="1"/>
          </p:cNvSpPr>
          <p:nvPr>
            <p:ph type="title"/>
          </p:nvPr>
        </p:nvSpPr>
        <p:spPr>
          <a:xfrm>
            <a:off x="493652" y="268583"/>
            <a:ext cx="64626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Purpose</a:t>
            </a:r>
            <a:endParaRPr/>
          </a:p>
        </p:txBody>
      </p:sp>
      <p:sp>
        <p:nvSpPr>
          <p:cNvPr id="77" name="Google Shape;77;p3"/>
          <p:cNvSpPr txBox="1">
            <a:spLocks noGrp="1"/>
          </p:cNvSpPr>
          <p:nvPr>
            <p:ph type="body" idx="1"/>
          </p:nvPr>
        </p:nvSpPr>
        <p:spPr>
          <a:xfrm>
            <a:off x="493651" y="826778"/>
            <a:ext cx="8156700" cy="857400"/>
          </a:xfrm>
          <a:prstGeom prst="rect">
            <a:avLst/>
          </a:prstGeom>
          <a:noFill/>
          <a:ln>
            <a:noFill/>
          </a:ln>
        </p:spPr>
        <p:txBody>
          <a:bodyPr spcFirstLastPara="1" wrap="square" lIns="0" tIns="91425" rIns="91425" bIns="91425" anchor="t" anchorCtr="0">
            <a:noAutofit/>
          </a:bodyPr>
          <a:lstStyle/>
          <a:p>
            <a:pPr marL="114300" lvl="0" indent="0" algn="l" rtl="0">
              <a:lnSpc>
                <a:spcPct val="100000"/>
              </a:lnSpc>
              <a:spcBef>
                <a:spcPts val="600"/>
              </a:spcBef>
              <a:spcAft>
                <a:spcPts val="0"/>
              </a:spcAft>
              <a:buSzPts val="1800"/>
              <a:buNone/>
            </a:pPr>
            <a:r>
              <a:rPr lang="en-US" sz="2000"/>
              <a:t>Our purpose, was to explore </a:t>
            </a:r>
            <a:r>
              <a:rPr lang="en-US" sz="2000" b="1">
                <a:solidFill>
                  <a:schemeClr val="accent1"/>
                </a:solidFill>
              </a:rPr>
              <a:t>what drives happiness </a:t>
            </a:r>
            <a:r>
              <a:rPr lang="en-US" sz="2000"/>
              <a:t>across the world, through the lens of four common myths about happiness: </a:t>
            </a:r>
            <a:endParaRPr/>
          </a:p>
          <a:p>
            <a:pPr marL="114300" lvl="0" indent="0" algn="l" rtl="0">
              <a:lnSpc>
                <a:spcPct val="100000"/>
              </a:lnSpc>
              <a:spcBef>
                <a:spcPts val="600"/>
              </a:spcBef>
              <a:spcAft>
                <a:spcPts val="0"/>
              </a:spcAft>
              <a:buSzPts val="1800"/>
              <a:buNone/>
            </a:pPr>
            <a:endParaRPr/>
          </a:p>
        </p:txBody>
      </p:sp>
      <p:sp>
        <p:nvSpPr>
          <p:cNvPr id="78" name="Google Shape;78;p3"/>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3</a:t>
            </a:fld>
            <a:endParaRPr/>
          </a:p>
        </p:txBody>
      </p:sp>
      <p:sp>
        <p:nvSpPr>
          <p:cNvPr id="79" name="Google Shape;79;p3"/>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accent2"/>
                </a:solidFill>
                <a:latin typeface="Arial"/>
                <a:ea typeface="Arial"/>
                <a:cs typeface="Arial"/>
                <a:sym typeface="Arial"/>
              </a:rPr>
              <a:t>PURPOSE AND METHODOLOGY </a:t>
            </a:r>
            <a:r>
              <a:rPr lang="en-US" sz="800" b="1" i="0" u="none" strike="noStrike" cap="none">
                <a:solidFill>
                  <a:srgbClr val="A5A5A5"/>
                </a:solidFill>
                <a:latin typeface="Arial"/>
                <a:ea typeface="Arial"/>
                <a:cs typeface="Arial"/>
                <a:sym typeface="Arial"/>
              </a:rPr>
              <a:t>• RESULTS AND CONCLUSIONS •  DISCUSSION AND CRITIQUE</a:t>
            </a:r>
            <a:endParaRPr/>
          </a:p>
        </p:txBody>
      </p:sp>
      <p:sp>
        <p:nvSpPr>
          <p:cNvPr id="80" name="Google Shape;80;p3"/>
          <p:cNvSpPr txBox="1"/>
          <p:nvPr/>
        </p:nvSpPr>
        <p:spPr>
          <a:xfrm>
            <a:off x="493651" y="1943036"/>
            <a:ext cx="18543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i="0" u="none" strike="noStrike" cap="none">
                <a:solidFill>
                  <a:schemeClr val="dk1"/>
                </a:solidFill>
                <a:latin typeface="Lato Black"/>
                <a:ea typeface="Lato Black"/>
                <a:cs typeface="Lato Black"/>
                <a:sym typeface="Lato Black"/>
              </a:rPr>
              <a:t>Money can’t buy happiness</a:t>
            </a:r>
            <a:endParaRPr>
              <a:latin typeface="Lato Black"/>
              <a:ea typeface="Lato Black"/>
              <a:cs typeface="Lato Black"/>
              <a:sym typeface="Lato Black"/>
            </a:endParaRPr>
          </a:p>
        </p:txBody>
      </p:sp>
      <p:cxnSp>
        <p:nvCxnSpPr>
          <p:cNvPr id="81" name="Google Shape;81;p3"/>
          <p:cNvCxnSpPr/>
          <p:nvPr/>
        </p:nvCxnSpPr>
        <p:spPr>
          <a:xfrm>
            <a:off x="562792" y="2466256"/>
            <a:ext cx="1862700" cy="0"/>
          </a:xfrm>
          <a:prstGeom prst="straightConnector1">
            <a:avLst/>
          </a:prstGeom>
          <a:noFill/>
          <a:ln w="19050" cap="flat" cmpd="sng">
            <a:solidFill>
              <a:srgbClr val="4962C5"/>
            </a:solidFill>
            <a:prstDash val="solid"/>
            <a:round/>
            <a:headEnd type="none" w="sm" len="sm"/>
            <a:tailEnd type="none" w="sm" len="sm"/>
          </a:ln>
        </p:spPr>
      </p:cxnSp>
      <p:sp>
        <p:nvSpPr>
          <p:cNvPr id="82" name="Google Shape;82;p3"/>
          <p:cNvSpPr txBox="1"/>
          <p:nvPr/>
        </p:nvSpPr>
        <p:spPr>
          <a:xfrm>
            <a:off x="562791" y="2557218"/>
            <a:ext cx="1862693" cy="1995418"/>
          </a:xfrm>
          <a:prstGeom prst="rect">
            <a:avLst/>
          </a:prstGeom>
          <a:noFill/>
          <a:ln>
            <a:noFill/>
          </a:ln>
        </p:spPr>
        <p:txBody>
          <a:bodyPr spcFirstLastPara="1" wrap="square" lIns="91425" tIns="45700" rIns="91425" bIns="45700" anchor="t" anchorCtr="0">
            <a:spAutoFit/>
          </a:bodyPr>
          <a:lstStyle/>
          <a:p>
            <a:pPr marL="137160" marR="0" lvl="0" indent="-137160" algn="l" rtl="0">
              <a:lnSpc>
                <a:spcPct val="100000"/>
              </a:lnSpc>
              <a:spcBef>
                <a:spcPts val="0"/>
              </a:spcBef>
              <a:spcAft>
                <a:spcPts val="0"/>
              </a:spcAft>
              <a:buClr>
                <a:schemeClr val="accent1"/>
              </a:buClr>
              <a:buSzPts val="1300"/>
              <a:buFont typeface="Arial"/>
              <a:buChar char="•"/>
            </a:pPr>
            <a:r>
              <a:rPr lang="en-US" sz="1300" b="0" i="0" u="none" strike="noStrike" cap="none">
                <a:solidFill>
                  <a:srgbClr val="000000"/>
                </a:solidFill>
                <a:latin typeface="Arial"/>
                <a:ea typeface="Arial"/>
                <a:cs typeface="Arial"/>
                <a:sym typeface="Arial"/>
              </a:rPr>
              <a:t>Do wealthier countries score higher on the happiness index? </a:t>
            </a:r>
            <a:endParaRPr/>
          </a:p>
          <a:p>
            <a:pPr marL="137160" marR="0" lvl="0" indent="-137160" algn="l" rtl="0">
              <a:lnSpc>
                <a:spcPct val="100000"/>
              </a:lnSpc>
              <a:spcBef>
                <a:spcPts val="400"/>
              </a:spcBef>
              <a:spcAft>
                <a:spcPts val="0"/>
              </a:spcAft>
              <a:buClr>
                <a:schemeClr val="accent1"/>
              </a:buClr>
              <a:buSzPts val="1300"/>
              <a:buFont typeface="Arial"/>
              <a:buChar char="•"/>
            </a:pPr>
            <a:r>
              <a:rPr lang="en-US" sz="1300" b="0" i="0" u="none" strike="noStrike" cap="none">
                <a:solidFill>
                  <a:srgbClr val="000000"/>
                </a:solidFill>
                <a:latin typeface="Arial"/>
                <a:ea typeface="Arial"/>
                <a:cs typeface="Arial"/>
                <a:sym typeface="Arial"/>
              </a:rPr>
              <a:t>Does this hold for countries with high levels of income inequality?</a:t>
            </a:r>
            <a:endParaRPr/>
          </a:p>
          <a:p>
            <a:pPr marL="0" marR="0" lvl="0" indent="0" algn="l" rtl="0">
              <a:lnSpc>
                <a:spcPct val="100000"/>
              </a:lnSpc>
              <a:spcBef>
                <a:spcPts val="400"/>
              </a:spcBef>
              <a:spcAft>
                <a:spcPts val="0"/>
              </a:spcAft>
              <a:buNone/>
            </a:pPr>
            <a:endParaRPr sz="1300" b="0" i="0" u="none" strike="noStrike" cap="none">
              <a:solidFill>
                <a:srgbClr val="000000"/>
              </a:solidFill>
              <a:latin typeface="Arial"/>
              <a:ea typeface="Arial"/>
              <a:cs typeface="Arial"/>
              <a:sym typeface="Arial"/>
            </a:endParaRPr>
          </a:p>
        </p:txBody>
      </p:sp>
      <p:sp>
        <p:nvSpPr>
          <p:cNvPr id="83" name="Google Shape;83;p3"/>
          <p:cNvSpPr txBox="1"/>
          <p:nvPr/>
        </p:nvSpPr>
        <p:spPr>
          <a:xfrm>
            <a:off x="4852883" y="1943036"/>
            <a:ext cx="18543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i="0" u="none" strike="noStrike" cap="none">
                <a:solidFill>
                  <a:srgbClr val="000000"/>
                </a:solidFill>
                <a:latin typeface="Lato Black"/>
                <a:ea typeface="Lato Black"/>
                <a:cs typeface="Lato Black"/>
                <a:sym typeface="Lato Black"/>
              </a:rPr>
              <a:t>Barriga llena, corazón contento</a:t>
            </a:r>
            <a:endParaRPr>
              <a:latin typeface="Lato Black"/>
              <a:ea typeface="Lato Black"/>
              <a:cs typeface="Lato Black"/>
              <a:sym typeface="Lato Black"/>
            </a:endParaRPr>
          </a:p>
        </p:txBody>
      </p:sp>
      <p:cxnSp>
        <p:nvCxnSpPr>
          <p:cNvPr id="84" name="Google Shape;84;p3"/>
          <p:cNvCxnSpPr/>
          <p:nvPr/>
        </p:nvCxnSpPr>
        <p:spPr>
          <a:xfrm>
            <a:off x="4809322" y="2466256"/>
            <a:ext cx="1862700" cy="0"/>
          </a:xfrm>
          <a:prstGeom prst="straightConnector1">
            <a:avLst/>
          </a:prstGeom>
          <a:noFill/>
          <a:ln w="19050" cap="flat" cmpd="sng">
            <a:solidFill>
              <a:srgbClr val="4962C5"/>
            </a:solidFill>
            <a:prstDash val="solid"/>
            <a:round/>
            <a:headEnd type="none" w="sm" len="sm"/>
            <a:tailEnd type="none" w="sm" len="sm"/>
          </a:ln>
        </p:spPr>
      </p:cxnSp>
      <p:sp>
        <p:nvSpPr>
          <p:cNvPr id="85" name="Google Shape;85;p3"/>
          <p:cNvSpPr txBox="1"/>
          <p:nvPr/>
        </p:nvSpPr>
        <p:spPr>
          <a:xfrm>
            <a:off x="4849807" y="2557218"/>
            <a:ext cx="1862700" cy="1595400"/>
          </a:xfrm>
          <a:prstGeom prst="rect">
            <a:avLst/>
          </a:prstGeom>
          <a:noFill/>
          <a:ln>
            <a:noFill/>
          </a:ln>
        </p:spPr>
        <p:txBody>
          <a:bodyPr spcFirstLastPara="1" wrap="square" lIns="91425" tIns="45700" rIns="91425" bIns="45700" anchor="t" anchorCtr="0">
            <a:spAutoFit/>
          </a:bodyPr>
          <a:lstStyle/>
          <a:p>
            <a:pPr marL="137160" marR="0" lvl="0" indent="-137160" algn="l" rtl="0">
              <a:lnSpc>
                <a:spcPct val="100000"/>
              </a:lnSpc>
              <a:spcBef>
                <a:spcPts val="0"/>
              </a:spcBef>
              <a:spcAft>
                <a:spcPts val="0"/>
              </a:spcAft>
              <a:buClr>
                <a:schemeClr val="accent1"/>
              </a:buClr>
              <a:buSzPts val="1300"/>
              <a:buFont typeface="Arial"/>
              <a:buChar char="•"/>
            </a:pPr>
            <a:r>
              <a:rPr lang="en-US" sz="1300" b="0" i="0" u="none" strike="noStrike" cap="none">
                <a:solidFill>
                  <a:srgbClr val="000000"/>
                </a:solidFill>
                <a:latin typeface="Arial"/>
                <a:ea typeface="Arial"/>
                <a:cs typeface="Arial"/>
                <a:sym typeface="Arial"/>
              </a:rPr>
              <a:t>Do countries who have more food score higher? </a:t>
            </a:r>
            <a:endParaRPr/>
          </a:p>
          <a:p>
            <a:pPr marL="137160" marR="0" lvl="0" indent="-137160" algn="l" rtl="0">
              <a:lnSpc>
                <a:spcPct val="100000"/>
              </a:lnSpc>
              <a:spcBef>
                <a:spcPts val="400"/>
              </a:spcBef>
              <a:spcAft>
                <a:spcPts val="0"/>
              </a:spcAft>
              <a:buClr>
                <a:schemeClr val="accent1"/>
              </a:buClr>
              <a:buSzPts val="1300"/>
              <a:buFont typeface="Arial"/>
              <a:buChar char="•"/>
            </a:pPr>
            <a:r>
              <a:rPr lang="en-US" sz="1300" b="0" i="0" u="none" strike="noStrike" cap="none">
                <a:solidFill>
                  <a:srgbClr val="000000"/>
                </a:solidFill>
                <a:latin typeface="Arial"/>
                <a:ea typeface="Arial"/>
                <a:cs typeface="Arial"/>
                <a:sym typeface="Arial"/>
              </a:rPr>
              <a:t>What kind of food makes people happiest?</a:t>
            </a:r>
            <a:endParaRPr/>
          </a:p>
          <a:p>
            <a:pPr marL="0" marR="0" lvl="0" indent="0" algn="l" rtl="0">
              <a:lnSpc>
                <a:spcPct val="100000"/>
              </a:lnSpc>
              <a:spcBef>
                <a:spcPts val="400"/>
              </a:spcBef>
              <a:spcAft>
                <a:spcPts val="0"/>
              </a:spcAft>
              <a:buNone/>
            </a:pPr>
            <a:endParaRPr sz="1300" b="0" i="0" u="none" strike="noStrike" cap="none">
              <a:solidFill>
                <a:srgbClr val="000000"/>
              </a:solidFill>
              <a:latin typeface="Arial"/>
              <a:ea typeface="Arial"/>
              <a:cs typeface="Arial"/>
              <a:sym typeface="Arial"/>
            </a:endParaRPr>
          </a:p>
        </p:txBody>
      </p:sp>
      <p:sp>
        <p:nvSpPr>
          <p:cNvPr id="86" name="Google Shape;86;p3"/>
          <p:cNvSpPr txBox="1"/>
          <p:nvPr/>
        </p:nvSpPr>
        <p:spPr>
          <a:xfrm>
            <a:off x="2697867" y="1943036"/>
            <a:ext cx="2192400" cy="492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i="0" u="none" strike="noStrike" cap="none">
                <a:solidFill>
                  <a:schemeClr val="dk1"/>
                </a:solidFill>
                <a:latin typeface="Lato Black"/>
                <a:ea typeface="Lato Black"/>
                <a:cs typeface="Lato Black"/>
                <a:sym typeface="Lato Black"/>
              </a:rPr>
              <a:t>Glück ist: keine Termine und leicht einen sitzen</a:t>
            </a:r>
            <a:endParaRPr>
              <a:latin typeface="Lato Black"/>
              <a:ea typeface="Lato Black"/>
              <a:cs typeface="Lato Black"/>
              <a:sym typeface="Lato Black"/>
            </a:endParaRPr>
          </a:p>
        </p:txBody>
      </p:sp>
      <p:cxnSp>
        <p:nvCxnSpPr>
          <p:cNvPr id="87" name="Google Shape;87;p3"/>
          <p:cNvCxnSpPr/>
          <p:nvPr/>
        </p:nvCxnSpPr>
        <p:spPr>
          <a:xfrm>
            <a:off x="2686053" y="2466256"/>
            <a:ext cx="1862700" cy="0"/>
          </a:xfrm>
          <a:prstGeom prst="straightConnector1">
            <a:avLst/>
          </a:prstGeom>
          <a:noFill/>
          <a:ln w="19050" cap="flat" cmpd="sng">
            <a:solidFill>
              <a:srgbClr val="4962C5"/>
            </a:solidFill>
            <a:prstDash val="solid"/>
            <a:round/>
            <a:headEnd type="none" w="sm" len="sm"/>
            <a:tailEnd type="none" w="sm" len="sm"/>
          </a:ln>
        </p:spPr>
      </p:cxnSp>
      <p:sp>
        <p:nvSpPr>
          <p:cNvPr id="88" name="Google Shape;88;p3"/>
          <p:cNvSpPr txBox="1"/>
          <p:nvPr/>
        </p:nvSpPr>
        <p:spPr>
          <a:xfrm>
            <a:off x="2697886" y="2557218"/>
            <a:ext cx="1862700" cy="1395300"/>
          </a:xfrm>
          <a:prstGeom prst="rect">
            <a:avLst/>
          </a:prstGeom>
          <a:noFill/>
          <a:ln>
            <a:noFill/>
          </a:ln>
        </p:spPr>
        <p:txBody>
          <a:bodyPr spcFirstLastPara="1" wrap="square" lIns="91425" tIns="45700" rIns="91425" bIns="45700" anchor="t" anchorCtr="0">
            <a:spAutoFit/>
          </a:bodyPr>
          <a:lstStyle/>
          <a:p>
            <a:pPr marL="137160" marR="0" lvl="0" indent="-137160" algn="l" rtl="0">
              <a:lnSpc>
                <a:spcPct val="100000"/>
              </a:lnSpc>
              <a:spcBef>
                <a:spcPts val="0"/>
              </a:spcBef>
              <a:spcAft>
                <a:spcPts val="0"/>
              </a:spcAft>
              <a:buClr>
                <a:schemeClr val="accent1"/>
              </a:buClr>
              <a:buSzPts val="1300"/>
              <a:buFont typeface="Arial"/>
              <a:buChar char="•"/>
            </a:pPr>
            <a:r>
              <a:rPr lang="en-US" sz="1300" b="0" i="0" u="none" strike="noStrike" cap="none">
                <a:solidFill>
                  <a:srgbClr val="000000"/>
                </a:solidFill>
                <a:latin typeface="Arial"/>
                <a:ea typeface="Arial"/>
                <a:cs typeface="Arial"/>
                <a:sym typeface="Arial"/>
              </a:rPr>
              <a:t>Do alcohol-drinking countries score higher? </a:t>
            </a:r>
            <a:endParaRPr/>
          </a:p>
          <a:p>
            <a:pPr marL="137160" marR="0" lvl="0" indent="-137160" algn="l" rtl="0">
              <a:lnSpc>
                <a:spcPct val="100000"/>
              </a:lnSpc>
              <a:spcBef>
                <a:spcPts val="400"/>
              </a:spcBef>
              <a:spcAft>
                <a:spcPts val="0"/>
              </a:spcAft>
              <a:buClr>
                <a:schemeClr val="accent1"/>
              </a:buClr>
              <a:buSzPts val="1300"/>
              <a:buFont typeface="Arial"/>
              <a:buChar char="•"/>
            </a:pPr>
            <a:r>
              <a:rPr lang="en-US" sz="1300" b="0" i="0" u="none" strike="noStrike" cap="none">
                <a:solidFill>
                  <a:srgbClr val="000000"/>
                </a:solidFill>
                <a:latin typeface="Arial"/>
                <a:ea typeface="Arial"/>
                <a:cs typeface="Arial"/>
                <a:sym typeface="Arial"/>
              </a:rPr>
              <a:t>Is it the same for all types of alcohol? </a:t>
            </a:r>
            <a:endParaRPr/>
          </a:p>
          <a:p>
            <a:pPr marL="0" marR="0" lvl="0" indent="0" algn="l" rtl="0">
              <a:lnSpc>
                <a:spcPct val="100000"/>
              </a:lnSpc>
              <a:spcBef>
                <a:spcPts val="400"/>
              </a:spcBef>
              <a:spcAft>
                <a:spcPts val="0"/>
              </a:spcAft>
              <a:buNone/>
            </a:pPr>
            <a:endParaRPr sz="1300" b="0" i="0" u="none" strike="noStrike" cap="none">
              <a:solidFill>
                <a:srgbClr val="000000"/>
              </a:solidFill>
              <a:latin typeface="Arial"/>
              <a:ea typeface="Arial"/>
              <a:cs typeface="Arial"/>
              <a:sym typeface="Arial"/>
            </a:endParaRPr>
          </a:p>
        </p:txBody>
      </p:sp>
      <p:sp>
        <p:nvSpPr>
          <p:cNvPr id="89" name="Google Shape;89;p3"/>
          <p:cNvSpPr txBox="1"/>
          <p:nvPr/>
        </p:nvSpPr>
        <p:spPr>
          <a:xfrm>
            <a:off x="6863449" y="1943036"/>
            <a:ext cx="18543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i="0" u="none" strike="noStrike" cap="none">
                <a:solidFill>
                  <a:schemeClr val="dk1"/>
                </a:solidFill>
                <a:latin typeface="Lato Black"/>
                <a:ea typeface="Lato Black"/>
                <a:cs typeface="Lato Black"/>
                <a:sym typeface="Lato Black"/>
              </a:rPr>
              <a:t>Happy wife, happy life </a:t>
            </a:r>
            <a:endParaRPr>
              <a:latin typeface="Lato Black"/>
              <a:ea typeface="Lato Black"/>
              <a:cs typeface="Lato Black"/>
              <a:sym typeface="Lato Black"/>
            </a:endParaRPr>
          </a:p>
        </p:txBody>
      </p:sp>
      <p:cxnSp>
        <p:nvCxnSpPr>
          <p:cNvPr id="90" name="Google Shape;90;p3"/>
          <p:cNvCxnSpPr/>
          <p:nvPr/>
        </p:nvCxnSpPr>
        <p:spPr>
          <a:xfrm>
            <a:off x="6932590" y="2466256"/>
            <a:ext cx="1862700" cy="0"/>
          </a:xfrm>
          <a:prstGeom prst="straightConnector1">
            <a:avLst/>
          </a:prstGeom>
          <a:noFill/>
          <a:ln w="19050" cap="flat" cmpd="sng">
            <a:solidFill>
              <a:srgbClr val="4962C5"/>
            </a:solidFill>
            <a:prstDash val="solid"/>
            <a:round/>
            <a:headEnd type="none" w="sm" len="sm"/>
            <a:tailEnd type="none" w="sm" len="sm"/>
          </a:ln>
        </p:spPr>
      </p:cxnSp>
      <p:sp>
        <p:nvSpPr>
          <p:cNvPr id="91" name="Google Shape;91;p3"/>
          <p:cNvSpPr txBox="1"/>
          <p:nvPr/>
        </p:nvSpPr>
        <p:spPr>
          <a:xfrm>
            <a:off x="6932590" y="2557218"/>
            <a:ext cx="1862693" cy="892552"/>
          </a:xfrm>
          <a:prstGeom prst="rect">
            <a:avLst/>
          </a:prstGeom>
          <a:noFill/>
          <a:ln>
            <a:noFill/>
          </a:ln>
        </p:spPr>
        <p:txBody>
          <a:bodyPr spcFirstLastPara="1" wrap="square" lIns="91425" tIns="45700" rIns="91425" bIns="45700" anchor="t" anchorCtr="0">
            <a:spAutoFit/>
          </a:bodyPr>
          <a:lstStyle/>
          <a:p>
            <a:pPr marL="137160" marR="0" lvl="0" indent="-137160" algn="l" rtl="0">
              <a:lnSpc>
                <a:spcPct val="100000"/>
              </a:lnSpc>
              <a:spcBef>
                <a:spcPts val="0"/>
              </a:spcBef>
              <a:spcAft>
                <a:spcPts val="0"/>
              </a:spcAft>
              <a:buClr>
                <a:schemeClr val="accent1"/>
              </a:buClr>
              <a:buSzPts val="1300"/>
              <a:buFont typeface="Arial"/>
              <a:buChar char="•"/>
            </a:pPr>
            <a:r>
              <a:rPr lang="en-US" sz="1300" b="0" i="0" u="none" strike="noStrike" cap="none">
                <a:solidFill>
                  <a:srgbClr val="000000"/>
                </a:solidFill>
                <a:latin typeface="Arial"/>
                <a:ea typeface="Arial"/>
                <a:cs typeface="Arial"/>
                <a:sym typeface="Arial"/>
              </a:rPr>
              <a:t>Are countries with higher levels of gender equality happier?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4"/>
          <p:cNvSpPr txBox="1">
            <a:spLocks noGrp="1"/>
          </p:cNvSpPr>
          <p:nvPr>
            <p:ph type="title"/>
          </p:nvPr>
        </p:nvSpPr>
        <p:spPr>
          <a:xfrm>
            <a:off x="493652" y="268583"/>
            <a:ext cx="64626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Background and Methodology</a:t>
            </a:r>
            <a:endParaRPr/>
          </a:p>
        </p:txBody>
      </p:sp>
      <p:sp>
        <p:nvSpPr>
          <p:cNvPr id="97" name="Google Shape;97;p4"/>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4</a:t>
            </a:fld>
            <a:endParaRPr/>
          </a:p>
        </p:txBody>
      </p:sp>
      <p:sp>
        <p:nvSpPr>
          <p:cNvPr id="98" name="Google Shape;98;p4"/>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accent2"/>
                </a:solidFill>
                <a:latin typeface="Arial"/>
                <a:ea typeface="Arial"/>
                <a:cs typeface="Arial"/>
                <a:sym typeface="Arial"/>
              </a:rPr>
              <a:t>PURPOSE AND METHODOLOGY </a:t>
            </a:r>
            <a:r>
              <a:rPr lang="en-US" sz="800" b="1" i="0" u="none" strike="noStrike" cap="none">
                <a:solidFill>
                  <a:srgbClr val="A5A5A5"/>
                </a:solidFill>
                <a:latin typeface="Arial"/>
                <a:ea typeface="Arial"/>
                <a:cs typeface="Arial"/>
                <a:sym typeface="Arial"/>
              </a:rPr>
              <a:t>• RESULTS AND CONCLUSIONS •  DISCUSSION AND CRITIQUE</a:t>
            </a:r>
            <a:endParaRPr/>
          </a:p>
        </p:txBody>
      </p:sp>
      <p:sp>
        <p:nvSpPr>
          <p:cNvPr id="99" name="Google Shape;99;p4"/>
          <p:cNvSpPr/>
          <p:nvPr/>
        </p:nvSpPr>
        <p:spPr>
          <a:xfrm>
            <a:off x="5817996" y="1007390"/>
            <a:ext cx="2936929" cy="3689543"/>
          </a:xfrm>
          <a:prstGeom prst="roundRect">
            <a:avLst>
              <a:gd name="adj" fmla="val 16667"/>
            </a:avLst>
          </a:prstGeom>
          <a:solidFill>
            <a:srgbClr val="F2F2F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0" name="Google Shape;100;p4"/>
          <p:cNvSpPr txBox="1"/>
          <p:nvPr/>
        </p:nvSpPr>
        <p:spPr>
          <a:xfrm>
            <a:off x="6143055" y="1125983"/>
            <a:ext cx="22868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Background on the </a:t>
            </a:r>
            <a:r>
              <a:rPr lang="en-US" sz="1400" b="1" i="0" u="none" strike="noStrike" cap="none">
                <a:solidFill>
                  <a:srgbClr val="FDB519"/>
                </a:solidFill>
                <a:latin typeface="Arial"/>
                <a:ea typeface="Arial"/>
                <a:cs typeface="Arial"/>
                <a:sym typeface="Arial"/>
              </a:rPr>
              <a:t>World Happiness Report</a:t>
            </a:r>
            <a:endParaRPr/>
          </a:p>
        </p:txBody>
      </p:sp>
      <p:sp>
        <p:nvSpPr>
          <p:cNvPr id="101" name="Google Shape;101;p4"/>
          <p:cNvSpPr txBox="1"/>
          <p:nvPr/>
        </p:nvSpPr>
        <p:spPr>
          <a:xfrm>
            <a:off x="1112508" y="1387593"/>
            <a:ext cx="4273153" cy="29392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0" i="0" u="none" strike="noStrike" cap="none">
                <a:solidFill>
                  <a:srgbClr val="000000"/>
                </a:solidFill>
                <a:latin typeface="Arial"/>
                <a:ea typeface="Arial"/>
                <a:cs typeface="Arial"/>
                <a:sym typeface="Arial"/>
              </a:rPr>
              <a:t>Clean WHR dataset and join with Gapminder, Food and Agriculture, Alcohol, Gender Equality datasets. </a:t>
            </a:r>
            <a:endParaRPr/>
          </a:p>
          <a:p>
            <a:pPr marL="0" marR="0" lvl="0" indent="0" algn="l" rtl="0">
              <a:lnSpc>
                <a:spcPct val="100000"/>
              </a:lnSpc>
              <a:spcBef>
                <a:spcPts val="800"/>
              </a:spcBef>
              <a:spcAft>
                <a:spcPts val="0"/>
              </a:spcAft>
              <a:buNone/>
            </a:pPr>
            <a:r>
              <a:rPr lang="en-US" sz="1500" b="0" i="0" u="none" strike="noStrike" cap="none">
                <a:solidFill>
                  <a:srgbClr val="000000"/>
                </a:solidFill>
                <a:latin typeface="Arial"/>
                <a:ea typeface="Arial"/>
                <a:cs typeface="Arial"/>
                <a:sym typeface="Arial"/>
              </a:rPr>
              <a:t>Explore distribution of happiness across countries and continents. </a:t>
            </a:r>
            <a:endParaRPr/>
          </a:p>
          <a:p>
            <a:pPr marL="0" marR="0" lvl="0" indent="0" algn="l" rtl="0">
              <a:lnSpc>
                <a:spcPct val="100000"/>
              </a:lnSpc>
              <a:spcBef>
                <a:spcPts val="800"/>
              </a:spcBef>
              <a:spcAft>
                <a:spcPts val="0"/>
              </a:spcAft>
              <a:buNone/>
            </a:pPr>
            <a:r>
              <a:rPr lang="en-US" sz="1500" b="0" i="0" u="none" strike="noStrike" cap="none">
                <a:solidFill>
                  <a:srgbClr val="000000"/>
                </a:solidFill>
                <a:latin typeface="Arial"/>
                <a:ea typeface="Arial"/>
                <a:cs typeface="Arial"/>
                <a:sym typeface="Arial"/>
              </a:rPr>
              <a:t>Investigate our chosen quotes and answering our research questions. Do money, food, alcohol, and gender equality impact happiness?  </a:t>
            </a:r>
            <a:endParaRPr/>
          </a:p>
          <a:p>
            <a:pPr marL="0" marR="0" lvl="0" indent="0" algn="l" rtl="0">
              <a:lnSpc>
                <a:spcPct val="100000"/>
              </a:lnSpc>
              <a:spcBef>
                <a:spcPts val="800"/>
              </a:spcBef>
              <a:spcAft>
                <a:spcPts val="0"/>
              </a:spcAft>
              <a:buNone/>
            </a:pPr>
            <a:r>
              <a:rPr lang="en-US" sz="1500" b="0" i="0" u="none" strike="noStrike" cap="none">
                <a:solidFill>
                  <a:srgbClr val="000000"/>
                </a:solidFill>
                <a:latin typeface="Arial"/>
                <a:ea typeface="Arial"/>
                <a:cs typeface="Arial"/>
                <a:sym typeface="Arial"/>
              </a:rPr>
              <a:t>Building a model to explore what drives happiness and predicting the UK’s happiness score based on our selected factors.  </a:t>
            </a:r>
            <a:endParaRPr/>
          </a:p>
        </p:txBody>
      </p:sp>
      <p:pic>
        <p:nvPicPr>
          <p:cNvPr id="102" name="Google Shape;102;p4" descr="Home | The World Happiness Report"/>
          <p:cNvPicPr preferRelativeResize="0"/>
          <p:nvPr/>
        </p:nvPicPr>
        <p:blipFill rotWithShape="1">
          <a:blip r:embed="rId3">
            <a:alphaModFix/>
          </a:blip>
          <a:srcRect l="18000" t="30477" r="16984" b="31780"/>
          <a:stretch/>
        </p:blipFill>
        <p:spPr>
          <a:xfrm>
            <a:off x="6766658" y="1784499"/>
            <a:ext cx="1039603" cy="603511"/>
          </a:xfrm>
          <a:prstGeom prst="rect">
            <a:avLst/>
          </a:prstGeom>
          <a:noFill/>
          <a:ln>
            <a:noFill/>
          </a:ln>
        </p:spPr>
      </p:pic>
      <p:sp>
        <p:nvSpPr>
          <p:cNvPr id="103" name="Google Shape;103;p4"/>
          <p:cNvSpPr txBox="1"/>
          <p:nvPr/>
        </p:nvSpPr>
        <p:spPr>
          <a:xfrm>
            <a:off x="5929448" y="2524802"/>
            <a:ext cx="2725647"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The happiness scores use data from the Gallup World Poll. The scores are based on answers to the main life evaluation question asked in the poll. This question, known as the </a:t>
            </a:r>
            <a:r>
              <a:rPr lang="en-US" sz="1200" b="1" i="0" u="none" strike="noStrike" cap="none">
                <a:solidFill>
                  <a:schemeClr val="accent1"/>
                </a:solidFill>
                <a:latin typeface="Arial"/>
                <a:ea typeface="Arial"/>
                <a:cs typeface="Arial"/>
                <a:sym typeface="Arial"/>
              </a:rPr>
              <a:t>Cantril Ladder</a:t>
            </a:r>
            <a:r>
              <a:rPr lang="en-US" sz="1200" b="0" i="0" u="none" strike="noStrike" cap="none">
                <a:solidFill>
                  <a:srgbClr val="000000"/>
                </a:solidFill>
                <a:latin typeface="Arial"/>
                <a:ea typeface="Arial"/>
                <a:cs typeface="Arial"/>
                <a:sym typeface="Arial"/>
              </a:rPr>
              <a:t>, asks respondents to think of a ladder with the best possible life for them being a 10 and the worst possible life being a 0 and to rate their own current lives on that scale. </a:t>
            </a:r>
            <a:endParaRPr/>
          </a:p>
        </p:txBody>
      </p:sp>
      <p:sp>
        <p:nvSpPr>
          <p:cNvPr id="104" name="Google Shape;104;p4"/>
          <p:cNvSpPr txBox="1">
            <a:spLocks noGrp="1"/>
          </p:cNvSpPr>
          <p:nvPr>
            <p:ph type="body" idx="1"/>
          </p:nvPr>
        </p:nvSpPr>
        <p:spPr>
          <a:xfrm>
            <a:off x="493651" y="838828"/>
            <a:ext cx="8156696" cy="857400"/>
          </a:xfrm>
          <a:prstGeom prst="rect">
            <a:avLst/>
          </a:prstGeom>
          <a:noFill/>
          <a:ln>
            <a:noFill/>
          </a:ln>
        </p:spPr>
        <p:txBody>
          <a:bodyPr spcFirstLastPara="1" wrap="square" lIns="0" tIns="91425" rIns="91425" bIns="91425" anchor="t" anchorCtr="0">
            <a:noAutofit/>
          </a:bodyPr>
          <a:lstStyle/>
          <a:p>
            <a:pPr marL="114300" lvl="0" indent="0" algn="l" rtl="0">
              <a:lnSpc>
                <a:spcPct val="100000"/>
              </a:lnSpc>
              <a:spcBef>
                <a:spcPts val="600"/>
              </a:spcBef>
              <a:spcAft>
                <a:spcPts val="0"/>
              </a:spcAft>
              <a:buSzPts val="1800"/>
              <a:buNone/>
            </a:pPr>
            <a:r>
              <a:rPr lang="en-US" sz="2000" b="1">
                <a:solidFill>
                  <a:schemeClr val="accent1"/>
                </a:solidFill>
              </a:rPr>
              <a:t>Methodology: </a:t>
            </a:r>
            <a:endParaRPr/>
          </a:p>
          <a:p>
            <a:pPr marL="114300" lvl="0" indent="0" algn="l" rtl="0">
              <a:lnSpc>
                <a:spcPct val="100000"/>
              </a:lnSpc>
              <a:spcBef>
                <a:spcPts val="600"/>
              </a:spcBef>
              <a:spcAft>
                <a:spcPts val="0"/>
              </a:spcAft>
              <a:buSzPts val="1800"/>
              <a:buNone/>
            </a:pPr>
            <a:endParaRPr/>
          </a:p>
        </p:txBody>
      </p:sp>
      <p:sp>
        <p:nvSpPr>
          <p:cNvPr id="105" name="Google Shape;105;p4"/>
          <p:cNvSpPr txBox="1"/>
          <p:nvPr/>
        </p:nvSpPr>
        <p:spPr>
          <a:xfrm>
            <a:off x="594310" y="1297520"/>
            <a:ext cx="595429" cy="485499"/>
          </a:xfrm>
          <a:prstGeom prst="rect">
            <a:avLst/>
          </a:prstGeom>
          <a:noFill/>
          <a:ln>
            <a:noFill/>
          </a:ln>
        </p:spPr>
        <p:txBody>
          <a:bodyPr spcFirstLastPara="1" wrap="square" lIns="0" tIns="91425" rIns="91425" bIns="91425" anchor="t" anchorCtr="0">
            <a:noAutofit/>
          </a:bodyPr>
          <a:lstStyle/>
          <a:p>
            <a:pPr marL="114300" marR="0" lvl="0" indent="0" algn="l" rtl="0">
              <a:lnSpc>
                <a:spcPct val="100000"/>
              </a:lnSpc>
              <a:spcBef>
                <a:spcPts val="600"/>
              </a:spcBef>
              <a:spcAft>
                <a:spcPts val="0"/>
              </a:spcAft>
              <a:buClr>
                <a:srgbClr val="FDB519"/>
              </a:buClr>
              <a:buSzPts val="1800"/>
              <a:buFont typeface="Arial"/>
              <a:buNone/>
            </a:pPr>
            <a:r>
              <a:rPr lang="en-US" sz="2500" b="1" i="0" u="none" strike="noStrike" cap="none">
                <a:solidFill>
                  <a:srgbClr val="FDB519"/>
                </a:solidFill>
                <a:latin typeface="Lato"/>
                <a:ea typeface="Lato"/>
                <a:cs typeface="Lato"/>
                <a:sym typeface="Lato"/>
              </a:rPr>
              <a:t>1.  </a:t>
            </a:r>
            <a:endParaRPr/>
          </a:p>
          <a:p>
            <a:pPr marL="114300" marR="0" lvl="0" indent="0" algn="l" rtl="0">
              <a:lnSpc>
                <a:spcPct val="100000"/>
              </a:lnSpc>
              <a:spcBef>
                <a:spcPts val="600"/>
              </a:spcBef>
              <a:spcAft>
                <a:spcPts val="0"/>
              </a:spcAft>
              <a:buClr>
                <a:srgbClr val="FDB519"/>
              </a:buClr>
              <a:buSzPts val="1800"/>
              <a:buFont typeface="Arial"/>
              <a:buNone/>
            </a:pPr>
            <a:endParaRPr sz="2500" b="0" i="0" u="none" strike="noStrike" cap="none">
              <a:solidFill>
                <a:srgbClr val="FDB519"/>
              </a:solidFill>
              <a:latin typeface="Lato"/>
              <a:ea typeface="Lato"/>
              <a:cs typeface="Lato"/>
              <a:sym typeface="Lato"/>
            </a:endParaRPr>
          </a:p>
        </p:txBody>
      </p:sp>
      <p:sp>
        <p:nvSpPr>
          <p:cNvPr id="106" name="Google Shape;106;p4"/>
          <p:cNvSpPr txBox="1"/>
          <p:nvPr/>
        </p:nvSpPr>
        <p:spPr>
          <a:xfrm>
            <a:off x="594310" y="2057695"/>
            <a:ext cx="595429" cy="485499"/>
          </a:xfrm>
          <a:prstGeom prst="rect">
            <a:avLst/>
          </a:prstGeom>
          <a:noFill/>
          <a:ln>
            <a:noFill/>
          </a:ln>
        </p:spPr>
        <p:txBody>
          <a:bodyPr spcFirstLastPara="1" wrap="square" lIns="0" tIns="91425" rIns="91425" bIns="91425" anchor="t" anchorCtr="0">
            <a:noAutofit/>
          </a:bodyPr>
          <a:lstStyle/>
          <a:p>
            <a:pPr marL="114300" marR="0" lvl="0" indent="0" algn="l" rtl="0">
              <a:lnSpc>
                <a:spcPct val="100000"/>
              </a:lnSpc>
              <a:spcBef>
                <a:spcPts val="600"/>
              </a:spcBef>
              <a:spcAft>
                <a:spcPts val="0"/>
              </a:spcAft>
              <a:buClr>
                <a:srgbClr val="FDB519"/>
              </a:buClr>
              <a:buSzPts val="1800"/>
              <a:buFont typeface="Arial"/>
              <a:buNone/>
            </a:pPr>
            <a:r>
              <a:rPr lang="en-US" sz="2500" b="1" i="0" u="none" strike="noStrike" cap="none">
                <a:solidFill>
                  <a:srgbClr val="FDB519"/>
                </a:solidFill>
                <a:latin typeface="Lato"/>
                <a:ea typeface="Lato"/>
                <a:cs typeface="Lato"/>
                <a:sym typeface="Lato"/>
              </a:rPr>
              <a:t>2.  </a:t>
            </a:r>
            <a:endParaRPr/>
          </a:p>
          <a:p>
            <a:pPr marL="114300" marR="0" lvl="0" indent="0" algn="l" rtl="0">
              <a:lnSpc>
                <a:spcPct val="100000"/>
              </a:lnSpc>
              <a:spcBef>
                <a:spcPts val="600"/>
              </a:spcBef>
              <a:spcAft>
                <a:spcPts val="0"/>
              </a:spcAft>
              <a:buClr>
                <a:srgbClr val="FDB519"/>
              </a:buClr>
              <a:buSzPts val="1800"/>
              <a:buFont typeface="Arial"/>
              <a:buNone/>
            </a:pPr>
            <a:endParaRPr sz="2500" b="0" i="0" u="none" strike="noStrike" cap="none">
              <a:solidFill>
                <a:srgbClr val="FDB519"/>
              </a:solidFill>
              <a:latin typeface="Lato"/>
              <a:ea typeface="Lato"/>
              <a:cs typeface="Lato"/>
              <a:sym typeface="Lato"/>
            </a:endParaRPr>
          </a:p>
        </p:txBody>
      </p:sp>
      <p:sp>
        <p:nvSpPr>
          <p:cNvPr id="107" name="Google Shape;107;p4"/>
          <p:cNvSpPr txBox="1"/>
          <p:nvPr/>
        </p:nvSpPr>
        <p:spPr>
          <a:xfrm>
            <a:off x="594310" y="2622050"/>
            <a:ext cx="595429" cy="485499"/>
          </a:xfrm>
          <a:prstGeom prst="rect">
            <a:avLst/>
          </a:prstGeom>
          <a:noFill/>
          <a:ln>
            <a:noFill/>
          </a:ln>
        </p:spPr>
        <p:txBody>
          <a:bodyPr spcFirstLastPara="1" wrap="square" lIns="0" tIns="91425" rIns="91425" bIns="91425" anchor="t" anchorCtr="0">
            <a:noAutofit/>
          </a:bodyPr>
          <a:lstStyle/>
          <a:p>
            <a:pPr marL="114300" marR="0" lvl="0" indent="0" algn="l" rtl="0">
              <a:lnSpc>
                <a:spcPct val="100000"/>
              </a:lnSpc>
              <a:spcBef>
                <a:spcPts val="600"/>
              </a:spcBef>
              <a:spcAft>
                <a:spcPts val="0"/>
              </a:spcAft>
              <a:buClr>
                <a:srgbClr val="FDB519"/>
              </a:buClr>
              <a:buSzPts val="1800"/>
              <a:buFont typeface="Arial"/>
              <a:buNone/>
            </a:pPr>
            <a:r>
              <a:rPr lang="en-US" sz="2500" b="1" i="0" u="none" strike="noStrike" cap="none">
                <a:solidFill>
                  <a:srgbClr val="FDB519"/>
                </a:solidFill>
                <a:latin typeface="Lato"/>
                <a:ea typeface="Lato"/>
                <a:cs typeface="Lato"/>
                <a:sym typeface="Lato"/>
              </a:rPr>
              <a:t>3.  </a:t>
            </a:r>
            <a:endParaRPr/>
          </a:p>
          <a:p>
            <a:pPr marL="114300" marR="0" lvl="0" indent="0" algn="l" rtl="0">
              <a:lnSpc>
                <a:spcPct val="100000"/>
              </a:lnSpc>
              <a:spcBef>
                <a:spcPts val="600"/>
              </a:spcBef>
              <a:spcAft>
                <a:spcPts val="0"/>
              </a:spcAft>
              <a:buClr>
                <a:srgbClr val="FDB519"/>
              </a:buClr>
              <a:buSzPts val="1800"/>
              <a:buFont typeface="Arial"/>
              <a:buNone/>
            </a:pPr>
            <a:endParaRPr sz="2500" b="0" i="0" u="none" strike="noStrike" cap="none">
              <a:solidFill>
                <a:srgbClr val="FDB519"/>
              </a:solidFill>
              <a:latin typeface="Lato"/>
              <a:ea typeface="Lato"/>
              <a:cs typeface="Lato"/>
              <a:sym typeface="Lato"/>
            </a:endParaRPr>
          </a:p>
        </p:txBody>
      </p:sp>
      <p:sp>
        <p:nvSpPr>
          <p:cNvPr id="108" name="Google Shape;108;p4"/>
          <p:cNvSpPr txBox="1"/>
          <p:nvPr/>
        </p:nvSpPr>
        <p:spPr>
          <a:xfrm>
            <a:off x="594310" y="3436997"/>
            <a:ext cx="595429" cy="485499"/>
          </a:xfrm>
          <a:prstGeom prst="rect">
            <a:avLst/>
          </a:prstGeom>
          <a:noFill/>
          <a:ln>
            <a:noFill/>
          </a:ln>
        </p:spPr>
        <p:txBody>
          <a:bodyPr spcFirstLastPara="1" wrap="square" lIns="0" tIns="91425" rIns="91425" bIns="91425" anchor="t" anchorCtr="0">
            <a:noAutofit/>
          </a:bodyPr>
          <a:lstStyle/>
          <a:p>
            <a:pPr marL="114300" marR="0" lvl="0" indent="0" algn="l" rtl="0">
              <a:lnSpc>
                <a:spcPct val="100000"/>
              </a:lnSpc>
              <a:spcBef>
                <a:spcPts val="600"/>
              </a:spcBef>
              <a:spcAft>
                <a:spcPts val="0"/>
              </a:spcAft>
              <a:buClr>
                <a:srgbClr val="FDB519"/>
              </a:buClr>
              <a:buSzPts val="1800"/>
              <a:buFont typeface="Arial"/>
              <a:buNone/>
            </a:pPr>
            <a:r>
              <a:rPr lang="en-US" sz="2500" b="1" i="0" u="none" strike="noStrike" cap="none">
                <a:solidFill>
                  <a:srgbClr val="FDB519"/>
                </a:solidFill>
                <a:latin typeface="Lato"/>
                <a:ea typeface="Lato"/>
                <a:cs typeface="Lato"/>
                <a:sym typeface="Lato"/>
              </a:rPr>
              <a:t>4.  </a:t>
            </a:r>
            <a:endParaRPr/>
          </a:p>
          <a:p>
            <a:pPr marL="114300" marR="0" lvl="0" indent="0" algn="l" rtl="0">
              <a:lnSpc>
                <a:spcPct val="100000"/>
              </a:lnSpc>
              <a:spcBef>
                <a:spcPts val="600"/>
              </a:spcBef>
              <a:spcAft>
                <a:spcPts val="0"/>
              </a:spcAft>
              <a:buClr>
                <a:srgbClr val="FDB519"/>
              </a:buClr>
              <a:buSzPts val="1800"/>
              <a:buFont typeface="Arial"/>
              <a:buNone/>
            </a:pPr>
            <a:endParaRPr sz="2500" b="0" i="0" u="none" strike="noStrike" cap="none">
              <a:solidFill>
                <a:srgbClr val="FDB519"/>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aecf4c0a77_1_77"/>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How happy is the world?</a:t>
            </a:r>
            <a:endParaRPr/>
          </a:p>
        </p:txBody>
      </p:sp>
      <p:sp>
        <p:nvSpPr>
          <p:cNvPr id="114" name="Google Shape;114;gaecf4c0a77_1_77"/>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5</a:t>
            </a:fld>
            <a:endParaRPr/>
          </a:p>
        </p:txBody>
      </p:sp>
      <p:sp>
        <p:nvSpPr>
          <p:cNvPr id="115" name="Google Shape;115;gaecf4c0a77_1_77"/>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pic>
        <p:nvPicPr>
          <p:cNvPr id="116" name="Google Shape;116;gaecf4c0a77_1_77"/>
          <p:cNvPicPr preferRelativeResize="0"/>
          <p:nvPr/>
        </p:nvPicPr>
        <p:blipFill rotWithShape="1">
          <a:blip r:embed="rId3">
            <a:alphaModFix/>
          </a:blip>
          <a:srcRect t="15059"/>
          <a:stretch/>
        </p:blipFill>
        <p:spPr>
          <a:xfrm>
            <a:off x="966150" y="1214150"/>
            <a:ext cx="7211677" cy="3818575"/>
          </a:xfrm>
          <a:prstGeom prst="rect">
            <a:avLst/>
          </a:prstGeom>
          <a:noFill/>
          <a:ln>
            <a:noFill/>
          </a:ln>
        </p:spPr>
      </p:pic>
      <p:sp>
        <p:nvSpPr>
          <p:cNvPr id="117" name="Google Shape;117;gaecf4c0a77_1_77"/>
          <p:cNvSpPr txBox="1"/>
          <p:nvPr/>
        </p:nvSpPr>
        <p:spPr>
          <a:xfrm>
            <a:off x="417450" y="812475"/>
            <a:ext cx="4147800" cy="31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latin typeface="Lato"/>
                <a:ea typeface="Lato"/>
                <a:cs typeface="Lato"/>
                <a:sym typeface="Lato"/>
              </a:rPr>
              <a:t>Happiness score by country  </a:t>
            </a:r>
            <a:endParaRPr sz="1800" b="1">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aecf4c0a77_1_17"/>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The top countries in terms of happiness are all in Northern Europe</a:t>
            </a:r>
            <a:endParaRPr/>
          </a:p>
        </p:txBody>
      </p:sp>
      <p:sp>
        <p:nvSpPr>
          <p:cNvPr id="123" name="Google Shape;123;gaecf4c0a77_1_17"/>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6</a:t>
            </a:fld>
            <a:endParaRPr/>
          </a:p>
        </p:txBody>
      </p:sp>
      <p:sp>
        <p:nvSpPr>
          <p:cNvPr id="124" name="Google Shape;124;gaecf4c0a77_1_17"/>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pic>
        <p:nvPicPr>
          <p:cNvPr id="125" name="Google Shape;125;gaecf4c0a77_1_17"/>
          <p:cNvPicPr preferRelativeResize="0"/>
          <p:nvPr/>
        </p:nvPicPr>
        <p:blipFill rotWithShape="1">
          <a:blip r:embed="rId3">
            <a:alphaModFix/>
          </a:blip>
          <a:srcRect t="19562"/>
          <a:stretch/>
        </p:blipFill>
        <p:spPr>
          <a:xfrm>
            <a:off x="514300" y="1843000"/>
            <a:ext cx="6451226" cy="3204376"/>
          </a:xfrm>
          <a:prstGeom prst="rect">
            <a:avLst/>
          </a:prstGeom>
          <a:noFill/>
          <a:ln>
            <a:noFill/>
          </a:ln>
        </p:spPr>
      </p:pic>
      <p:sp>
        <p:nvSpPr>
          <p:cNvPr id="126" name="Google Shape;126;gaecf4c0a77_1_17"/>
          <p:cNvSpPr txBox="1"/>
          <p:nvPr/>
        </p:nvSpPr>
        <p:spPr>
          <a:xfrm>
            <a:off x="417450" y="1269675"/>
            <a:ext cx="8334600" cy="66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Difference of the top five happiness scores and bottom five happiness scores compared to the average global score </a:t>
            </a:r>
            <a:endParaRPr sz="1600" b="1">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aecf4c0a77_1_7"/>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7</a:t>
            </a:fld>
            <a:endParaRPr/>
          </a:p>
        </p:txBody>
      </p:sp>
      <p:sp>
        <p:nvSpPr>
          <p:cNvPr id="132" name="Google Shape;132;gaecf4c0a77_1_7"/>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133" name="Google Shape;133;gaecf4c0a77_1_7"/>
          <p:cNvSpPr/>
          <p:nvPr/>
        </p:nvSpPr>
        <p:spPr>
          <a:xfrm>
            <a:off x="7082850" y="1433450"/>
            <a:ext cx="1746600" cy="2710200"/>
          </a:xfrm>
          <a:prstGeom prst="roundRect">
            <a:avLst>
              <a:gd name="adj" fmla="val 16667"/>
            </a:avLst>
          </a:prstGeom>
          <a:solidFill>
            <a:srgbClr val="FFFFFF"/>
          </a:solidFill>
          <a:ln w="19050" cap="flat" cmpd="sng">
            <a:solidFill>
              <a:srgbClr val="FDB519"/>
            </a:solidFill>
            <a:prstDash val="solid"/>
            <a:round/>
            <a:headEnd type="none" w="sm" len="sm"/>
            <a:tailEnd type="none" w="sm" len="sm"/>
          </a:ln>
        </p:spPr>
        <p:txBody>
          <a:bodyPr spcFirstLastPara="1" wrap="square" lIns="91425" tIns="91425" rIns="91425" bIns="91425" anchor="ctr" anchorCtr="0">
            <a:noAutofit/>
          </a:bodyPr>
          <a:lstStyle/>
          <a:p>
            <a:pPr marL="182880" lvl="0" indent="-219709" algn="l" rtl="0">
              <a:spcBef>
                <a:spcPts val="0"/>
              </a:spcBef>
              <a:spcAft>
                <a:spcPts val="0"/>
              </a:spcAft>
              <a:buSzPts val="1300"/>
              <a:buChar char="●"/>
            </a:pPr>
            <a:r>
              <a:rPr lang="en-US" sz="1300" b="1">
                <a:solidFill>
                  <a:schemeClr val="accent1"/>
                </a:solidFill>
              </a:rPr>
              <a:t>Africa</a:t>
            </a:r>
            <a:r>
              <a:rPr lang="en-US" sz="1300"/>
              <a:t> is the most unhappy continent on average </a:t>
            </a:r>
            <a:endParaRPr sz="1300"/>
          </a:p>
          <a:p>
            <a:pPr marL="457200" lvl="0" indent="0" algn="l" rtl="0">
              <a:spcBef>
                <a:spcPts val="0"/>
              </a:spcBef>
              <a:spcAft>
                <a:spcPts val="0"/>
              </a:spcAft>
              <a:buNone/>
            </a:pPr>
            <a:endParaRPr sz="1300"/>
          </a:p>
          <a:p>
            <a:pPr marL="182880" lvl="0" indent="-219709" algn="l" rtl="0">
              <a:spcBef>
                <a:spcPts val="0"/>
              </a:spcBef>
              <a:spcAft>
                <a:spcPts val="0"/>
              </a:spcAft>
              <a:buSzPts val="1300"/>
              <a:buChar char="●"/>
            </a:pPr>
            <a:r>
              <a:rPr lang="en-US" sz="1300" b="1">
                <a:solidFill>
                  <a:srgbClr val="FDB519"/>
                </a:solidFill>
              </a:rPr>
              <a:t>Asia</a:t>
            </a:r>
            <a:r>
              <a:rPr lang="en-US" sz="1300"/>
              <a:t> and the </a:t>
            </a:r>
            <a:r>
              <a:rPr lang="en-US" sz="1300" b="1">
                <a:solidFill>
                  <a:schemeClr val="accent2"/>
                </a:solidFill>
              </a:rPr>
              <a:t>Americas</a:t>
            </a:r>
            <a:r>
              <a:rPr lang="en-US" sz="1300"/>
              <a:t> have a wide range of happiness scores across countries</a:t>
            </a:r>
            <a:endParaRPr sz="1300"/>
          </a:p>
        </p:txBody>
      </p:sp>
      <p:sp>
        <p:nvSpPr>
          <p:cNvPr id="134" name="Google Shape;134;gaecf4c0a77_1_7"/>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SzPts val="3200"/>
              <a:buNone/>
            </a:pPr>
            <a:r>
              <a:rPr lang="en-US"/>
              <a:t>Happiness scores vary strongly across continents</a:t>
            </a:r>
            <a:endParaRPr/>
          </a:p>
        </p:txBody>
      </p:sp>
      <p:pic>
        <p:nvPicPr>
          <p:cNvPr id="135" name="Google Shape;135;gaecf4c0a77_1_7"/>
          <p:cNvPicPr preferRelativeResize="0"/>
          <p:nvPr/>
        </p:nvPicPr>
        <p:blipFill rotWithShape="1">
          <a:blip r:embed="rId3">
            <a:alphaModFix/>
          </a:blip>
          <a:srcRect l="5640" t="15942" r="3243" b="2637"/>
          <a:stretch/>
        </p:blipFill>
        <p:spPr>
          <a:xfrm>
            <a:off x="680975" y="1774175"/>
            <a:ext cx="5870675" cy="3244025"/>
          </a:xfrm>
          <a:prstGeom prst="rect">
            <a:avLst/>
          </a:prstGeom>
          <a:noFill/>
          <a:ln>
            <a:noFill/>
          </a:ln>
        </p:spPr>
      </p:pic>
      <p:sp>
        <p:nvSpPr>
          <p:cNvPr id="136" name="Google Shape;136;gaecf4c0a77_1_7"/>
          <p:cNvSpPr txBox="1"/>
          <p:nvPr/>
        </p:nvSpPr>
        <p:spPr>
          <a:xfrm>
            <a:off x="417450" y="1269675"/>
            <a:ext cx="8334600" cy="66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Happiness score distribution per continent</a:t>
            </a:r>
            <a:endParaRPr sz="1600" b="1">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txBox="1">
            <a:spLocks noGrp="1"/>
          </p:cNvSpPr>
          <p:nvPr>
            <p:ph type="body" idx="1"/>
          </p:nvPr>
        </p:nvSpPr>
        <p:spPr>
          <a:xfrm>
            <a:off x="1710425" y="2161800"/>
            <a:ext cx="5723700" cy="819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600"/>
              </a:spcBef>
              <a:spcAft>
                <a:spcPts val="0"/>
              </a:spcAft>
              <a:buSzPts val="2400"/>
              <a:buNone/>
            </a:pPr>
            <a:r>
              <a:rPr lang="en-US" sz="3000"/>
              <a:t>Money can’t buy happiness.</a:t>
            </a:r>
            <a:endParaRPr sz="3000"/>
          </a:p>
        </p:txBody>
      </p:sp>
      <p:sp>
        <p:nvSpPr>
          <p:cNvPr id="142" name="Google Shape;142;p5"/>
          <p:cNvSpPr txBox="1">
            <a:spLocks noGrp="1"/>
          </p:cNvSpPr>
          <p:nvPr>
            <p:ph type="sldNum" idx="12"/>
          </p:nvPr>
        </p:nvSpPr>
        <p:spPr>
          <a:xfrm>
            <a:off x="-125" y="4830281"/>
            <a:ext cx="9144000" cy="31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300"/>
              <a:buNone/>
            </a:pPr>
            <a:fld id="{00000000-1234-1234-1234-123412341234}" type="slidenum">
              <a:rPr lang="en-US"/>
              <a:t>8</a:t>
            </a:fld>
            <a:endParaRPr/>
          </a:p>
        </p:txBody>
      </p:sp>
      <p:sp>
        <p:nvSpPr>
          <p:cNvPr id="143" name="Google Shape;143;p5"/>
          <p:cNvSpPr txBox="1"/>
          <p:nvPr/>
        </p:nvSpPr>
        <p:spPr>
          <a:xfrm>
            <a:off x="3095835" y="2981700"/>
            <a:ext cx="2952080"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A5A5A5"/>
                </a:solidFill>
                <a:latin typeface="Arial"/>
                <a:ea typeface="Arial"/>
                <a:cs typeface="Arial"/>
                <a:sym typeface="Arial"/>
              </a:rPr>
              <a:t>Swiss philosopher Jean-Jacques Rousseau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6"/>
          <p:cNvSpPr txBox="1">
            <a:spLocks noGrp="1"/>
          </p:cNvSpPr>
          <p:nvPr>
            <p:ph type="title"/>
          </p:nvPr>
        </p:nvSpPr>
        <p:spPr>
          <a:xfrm>
            <a:off x="493652" y="268583"/>
            <a:ext cx="8258462"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Where are the riches?</a:t>
            </a:r>
            <a:endParaRPr/>
          </a:p>
        </p:txBody>
      </p:sp>
      <p:sp>
        <p:nvSpPr>
          <p:cNvPr id="149" name="Google Shape;149;p6"/>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9</a:t>
            </a:fld>
            <a:endParaRPr/>
          </a:p>
        </p:txBody>
      </p:sp>
      <p:sp>
        <p:nvSpPr>
          <p:cNvPr id="150" name="Google Shape;150;p6"/>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pic>
        <p:nvPicPr>
          <p:cNvPr id="151" name="Google Shape;151;p6"/>
          <p:cNvPicPr preferRelativeResize="0"/>
          <p:nvPr/>
        </p:nvPicPr>
        <p:blipFill rotWithShape="1">
          <a:blip r:embed="rId3">
            <a:alphaModFix/>
          </a:blip>
          <a:srcRect l="704" t="14498" b="4816"/>
          <a:stretch/>
        </p:blipFill>
        <p:spPr>
          <a:xfrm>
            <a:off x="550450" y="1125975"/>
            <a:ext cx="7734196" cy="3880826"/>
          </a:xfrm>
          <a:prstGeom prst="rect">
            <a:avLst/>
          </a:prstGeom>
          <a:noFill/>
          <a:ln>
            <a:noFill/>
          </a:ln>
        </p:spPr>
      </p:pic>
      <p:sp>
        <p:nvSpPr>
          <p:cNvPr id="152" name="Google Shape;152;p6"/>
          <p:cNvSpPr txBox="1"/>
          <p:nvPr/>
        </p:nvSpPr>
        <p:spPr>
          <a:xfrm>
            <a:off x="417450" y="812475"/>
            <a:ext cx="5256000" cy="31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latin typeface="Lato"/>
                <a:ea typeface="Lato"/>
                <a:cs typeface="Lato"/>
                <a:sym typeface="Lato"/>
              </a:rPr>
              <a:t>Distribution of GDP per capita across the globe  </a:t>
            </a:r>
            <a:endParaRPr sz="1800" b="1">
              <a:latin typeface="Lato"/>
              <a:ea typeface="Lato"/>
              <a:cs typeface="Lato"/>
              <a:sym typeface="Lato"/>
            </a:endParaRPr>
          </a:p>
        </p:txBody>
      </p:sp>
      <p:sp>
        <p:nvSpPr>
          <p:cNvPr id="153" name="Google Shape;153;p6"/>
          <p:cNvSpPr txBox="1"/>
          <p:nvPr/>
        </p:nvSpPr>
        <p:spPr>
          <a:xfrm>
            <a:off x="6459550" y="4696775"/>
            <a:ext cx="1811100" cy="22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900">
                <a:solidFill>
                  <a:srgbClr val="999999"/>
                </a:solidFill>
              </a:rPr>
              <a:t>Source: Gapminder</a:t>
            </a:r>
            <a:endParaRPr sz="900">
              <a:solidFill>
                <a:srgbClr val="99999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aecf4c0a77_1_26"/>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Economic factors are an important foundation to happiness</a:t>
            </a:r>
            <a:endParaRPr/>
          </a:p>
        </p:txBody>
      </p:sp>
      <p:sp>
        <p:nvSpPr>
          <p:cNvPr id="159" name="Google Shape;159;gaecf4c0a77_1_26"/>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10</a:t>
            </a:fld>
            <a:endParaRPr/>
          </a:p>
        </p:txBody>
      </p:sp>
      <p:sp>
        <p:nvSpPr>
          <p:cNvPr id="160" name="Google Shape;160;gaecf4c0a77_1_26"/>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pic>
        <p:nvPicPr>
          <p:cNvPr id="161" name="Google Shape;161;gaecf4c0a77_1_26"/>
          <p:cNvPicPr preferRelativeResize="0"/>
          <p:nvPr/>
        </p:nvPicPr>
        <p:blipFill rotWithShape="1">
          <a:blip r:embed="rId3">
            <a:alphaModFix/>
          </a:blip>
          <a:srcRect t="10738" r="1555"/>
          <a:stretch/>
        </p:blipFill>
        <p:spPr>
          <a:xfrm>
            <a:off x="493650" y="1631650"/>
            <a:ext cx="6372377" cy="3439576"/>
          </a:xfrm>
          <a:prstGeom prst="rect">
            <a:avLst/>
          </a:prstGeom>
          <a:noFill/>
          <a:ln>
            <a:noFill/>
          </a:ln>
        </p:spPr>
      </p:pic>
      <p:sp>
        <p:nvSpPr>
          <p:cNvPr id="162" name="Google Shape;162;gaecf4c0a77_1_26"/>
          <p:cNvSpPr txBox="1"/>
          <p:nvPr/>
        </p:nvSpPr>
        <p:spPr>
          <a:xfrm>
            <a:off x="493650" y="1269675"/>
            <a:ext cx="8334600" cy="661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b="1">
                <a:latin typeface="Lato"/>
                <a:ea typeface="Lato"/>
                <a:cs typeface="Lato"/>
                <a:sym typeface="Lato"/>
              </a:rPr>
              <a:t> Correlation between various economic indicators and happiness</a:t>
            </a:r>
            <a:endParaRPr b="1">
              <a:latin typeface="Lato"/>
              <a:ea typeface="Lato"/>
              <a:cs typeface="Lato"/>
              <a:sym typeface="Lato"/>
            </a:endParaRPr>
          </a:p>
        </p:txBody>
      </p:sp>
      <p:sp>
        <p:nvSpPr>
          <p:cNvPr id="163" name="Google Shape;163;gaecf4c0a77_1_26"/>
          <p:cNvSpPr/>
          <p:nvPr/>
        </p:nvSpPr>
        <p:spPr>
          <a:xfrm>
            <a:off x="7081650" y="2276625"/>
            <a:ext cx="1746600" cy="1878900"/>
          </a:xfrm>
          <a:prstGeom prst="roundRect">
            <a:avLst>
              <a:gd name="adj" fmla="val 16667"/>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a:t>Happiness score has very strong correlations with </a:t>
            </a:r>
            <a:r>
              <a:rPr lang="en-US" sz="1300" b="1">
                <a:solidFill>
                  <a:schemeClr val="accent1"/>
                </a:solidFill>
              </a:rPr>
              <a:t>GDP per capita</a:t>
            </a:r>
            <a:r>
              <a:rPr lang="en-US" sz="1300">
                <a:solidFill>
                  <a:schemeClr val="accent1"/>
                </a:solidFill>
              </a:rPr>
              <a:t> </a:t>
            </a:r>
            <a:r>
              <a:rPr lang="en-US" sz="1300"/>
              <a:t>and </a:t>
            </a:r>
            <a:r>
              <a:rPr lang="en-US" sz="1300" b="1">
                <a:solidFill>
                  <a:schemeClr val="accent1"/>
                </a:solidFill>
              </a:rPr>
              <a:t>Gini coefficient</a:t>
            </a:r>
            <a:r>
              <a:rPr lang="en-US" sz="1300"/>
              <a:t>.</a:t>
            </a:r>
            <a:r>
              <a:rPr lang="en-US" sz="1300" b="1"/>
              <a:t> </a:t>
            </a:r>
            <a:endParaRPr sz="13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aecf4c0a77_1_34"/>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Money buys happiness, regardless of income inequality</a:t>
            </a:r>
            <a:endParaRPr/>
          </a:p>
        </p:txBody>
      </p:sp>
      <p:sp>
        <p:nvSpPr>
          <p:cNvPr id="169" name="Google Shape;169;gaecf4c0a77_1_34"/>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11</a:t>
            </a:fld>
            <a:endParaRPr/>
          </a:p>
        </p:txBody>
      </p:sp>
      <p:sp>
        <p:nvSpPr>
          <p:cNvPr id="170" name="Google Shape;170;gaecf4c0a77_1_34"/>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171" name="Google Shape;171;gaecf4c0a77_1_34"/>
          <p:cNvSpPr txBox="1"/>
          <p:nvPr/>
        </p:nvSpPr>
        <p:spPr>
          <a:xfrm>
            <a:off x="493650" y="1269675"/>
            <a:ext cx="8334600" cy="661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500" b="1">
                <a:latin typeface="Lato"/>
                <a:ea typeface="Lato"/>
                <a:cs typeface="Lato"/>
                <a:sym typeface="Lato"/>
              </a:rPr>
              <a:t>Relationship between GDP per capita (PPP) and Happiness Score in different societal structures</a:t>
            </a:r>
            <a:endParaRPr sz="1500" b="1">
              <a:latin typeface="Lato"/>
              <a:ea typeface="Lato"/>
              <a:cs typeface="Lato"/>
              <a:sym typeface="Lato"/>
            </a:endParaRPr>
          </a:p>
        </p:txBody>
      </p:sp>
      <p:sp>
        <p:nvSpPr>
          <p:cNvPr id="172" name="Google Shape;172;gaecf4c0a77_1_34"/>
          <p:cNvSpPr/>
          <p:nvPr/>
        </p:nvSpPr>
        <p:spPr>
          <a:xfrm>
            <a:off x="7081650" y="2276625"/>
            <a:ext cx="1746600" cy="1878900"/>
          </a:xfrm>
          <a:prstGeom prst="roundRect">
            <a:avLst>
              <a:gd name="adj" fmla="val 16667"/>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1300">
                <a:solidFill>
                  <a:schemeClr val="dk1"/>
                </a:solidFill>
              </a:rPr>
              <a:t>There is a </a:t>
            </a:r>
            <a:r>
              <a:rPr lang="en-US" sz="1300" b="1">
                <a:solidFill>
                  <a:schemeClr val="accent1"/>
                </a:solidFill>
              </a:rPr>
              <a:t>positive correlation</a:t>
            </a:r>
            <a:r>
              <a:rPr lang="en-US" sz="1300">
                <a:solidFill>
                  <a:schemeClr val="accent1"/>
                </a:solidFill>
              </a:rPr>
              <a:t> </a:t>
            </a:r>
            <a:r>
              <a:rPr lang="en-US" sz="1300">
                <a:solidFill>
                  <a:schemeClr val="dk1"/>
                </a:solidFill>
              </a:rPr>
              <a:t>between income and happiness.</a:t>
            </a:r>
            <a:r>
              <a:rPr lang="en-US" sz="1300" b="1">
                <a:solidFill>
                  <a:schemeClr val="dk1"/>
                </a:solidFill>
              </a:rPr>
              <a:t> </a:t>
            </a:r>
            <a:endParaRPr sz="1300" b="1">
              <a:solidFill>
                <a:schemeClr val="dk1"/>
              </a:solidFill>
            </a:endParaRPr>
          </a:p>
          <a:p>
            <a:pPr marL="0" lvl="0" indent="0" algn="ctr" rtl="0">
              <a:spcBef>
                <a:spcPts val="0"/>
              </a:spcBef>
              <a:spcAft>
                <a:spcPts val="0"/>
              </a:spcAft>
              <a:buNone/>
            </a:pPr>
            <a:endParaRPr sz="1300"/>
          </a:p>
        </p:txBody>
      </p:sp>
      <p:sp>
        <p:nvSpPr>
          <p:cNvPr id="173" name="Google Shape;173;gaecf4c0a77_1_34"/>
          <p:cNvSpPr txBox="1"/>
          <p:nvPr/>
        </p:nvSpPr>
        <p:spPr>
          <a:xfrm>
            <a:off x="6785550" y="4738925"/>
            <a:ext cx="1811100" cy="22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900">
                <a:solidFill>
                  <a:srgbClr val="999999"/>
                </a:solidFill>
              </a:rPr>
              <a:t>Source: Gapminder</a:t>
            </a:r>
            <a:endParaRPr sz="900">
              <a:solidFill>
                <a:srgbClr val="999999"/>
              </a:solidFill>
            </a:endParaRPr>
          </a:p>
        </p:txBody>
      </p:sp>
      <p:pic>
        <p:nvPicPr>
          <p:cNvPr id="174" name="Google Shape;174;gaecf4c0a77_1_34"/>
          <p:cNvPicPr preferRelativeResize="0"/>
          <p:nvPr/>
        </p:nvPicPr>
        <p:blipFill rotWithShape="1">
          <a:blip r:embed="rId3">
            <a:alphaModFix/>
          </a:blip>
          <a:srcRect t="12724"/>
          <a:stretch/>
        </p:blipFill>
        <p:spPr>
          <a:xfrm>
            <a:off x="493650" y="1694100"/>
            <a:ext cx="6259352" cy="3373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9"/>
          <p:cNvSpPr txBox="1">
            <a:spLocks noGrp="1"/>
          </p:cNvSpPr>
          <p:nvPr>
            <p:ph type="body" idx="1"/>
          </p:nvPr>
        </p:nvSpPr>
        <p:spPr>
          <a:xfrm>
            <a:off x="1710425" y="2161800"/>
            <a:ext cx="5723700" cy="819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600"/>
              </a:spcBef>
              <a:spcAft>
                <a:spcPts val="0"/>
              </a:spcAft>
              <a:buSzPts val="2400"/>
              <a:buNone/>
            </a:pPr>
            <a:r>
              <a:rPr lang="en-US" sz="3000"/>
              <a:t>Glück ist: keine Termine und leicht einen sitzen</a:t>
            </a:r>
            <a:endParaRPr sz="3000"/>
          </a:p>
        </p:txBody>
      </p:sp>
      <p:sp>
        <p:nvSpPr>
          <p:cNvPr id="180" name="Google Shape;180;p9"/>
          <p:cNvSpPr txBox="1">
            <a:spLocks noGrp="1"/>
          </p:cNvSpPr>
          <p:nvPr>
            <p:ph type="sldNum" idx="12"/>
          </p:nvPr>
        </p:nvSpPr>
        <p:spPr>
          <a:xfrm>
            <a:off x="-125" y="4830281"/>
            <a:ext cx="9144000" cy="31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300"/>
              <a:buNone/>
            </a:pPr>
            <a:fld id="{00000000-1234-1234-1234-123412341234}" type="slidenum">
              <a:rPr lang="en-US"/>
              <a:t>12</a:t>
            </a:fld>
            <a:endParaRPr/>
          </a:p>
        </p:txBody>
      </p:sp>
      <p:sp>
        <p:nvSpPr>
          <p:cNvPr id="181" name="Google Shape;181;p9"/>
          <p:cNvSpPr txBox="1"/>
          <p:nvPr/>
        </p:nvSpPr>
        <p:spPr>
          <a:xfrm>
            <a:off x="3631349" y="3444325"/>
            <a:ext cx="188105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A5A5A5"/>
                </a:solidFill>
                <a:latin typeface="Arial"/>
                <a:ea typeface="Arial"/>
                <a:cs typeface="Arial"/>
                <a:sym typeface="Arial"/>
              </a:rPr>
              <a:t>German saying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0"/>
          <p:cNvSpPr txBox="1">
            <a:spLocks noGrp="1"/>
          </p:cNvSpPr>
          <p:nvPr>
            <p:ph type="title"/>
          </p:nvPr>
        </p:nvSpPr>
        <p:spPr>
          <a:xfrm>
            <a:off x="493652" y="268583"/>
            <a:ext cx="8258462"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In happier countries, people drink more</a:t>
            </a:r>
            <a:endParaRPr/>
          </a:p>
        </p:txBody>
      </p:sp>
      <p:sp>
        <p:nvSpPr>
          <p:cNvPr id="187" name="Google Shape;187;p10"/>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13</a:t>
            </a:fld>
            <a:endParaRPr/>
          </a:p>
        </p:txBody>
      </p:sp>
      <p:sp>
        <p:nvSpPr>
          <p:cNvPr id="188" name="Google Shape;188;p10"/>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189" name="Google Shape;189;p10"/>
          <p:cNvSpPr txBox="1"/>
          <p:nvPr/>
        </p:nvSpPr>
        <p:spPr>
          <a:xfrm>
            <a:off x="493650" y="848600"/>
            <a:ext cx="6588000" cy="661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Litres of alcohol per person versus happiness score, by most consumed drink and GDP per capita. </a:t>
            </a:r>
            <a:endParaRPr sz="1600" b="1">
              <a:latin typeface="Lato"/>
              <a:ea typeface="Lato"/>
              <a:cs typeface="Lato"/>
              <a:sym typeface="Lato"/>
            </a:endParaRPr>
          </a:p>
        </p:txBody>
      </p:sp>
      <p:sp>
        <p:nvSpPr>
          <p:cNvPr id="190" name="Google Shape;190;p10"/>
          <p:cNvSpPr/>
          <p:nvPr/>
        </p:nvSpPr>
        <p:spPr>
          <a:xfrm>
            <a:off x="7081650" y="2056213"/>
            <a:ext cx="1746600" cy="16779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a:t>Alcohol consuming countries tend to be happier, </a:t>
            </a:r>
            <a:r>
              <a:rPr lang="en-US" sz="1500" b="1">
                <a:solidFill>
                  <a:schemeClr val="accent4"/>
                </a:solidFill>
              </a:rPr>
              <a:t>but they’re also wealthier! </a:t>
            </a:r>
            <a:r>
              <a:rPr lang="en-US" sz="1500" b="1"/>
              <a:t> </a:t>
            </a:r>
            <a:endParaRPr sz="1500" b="1"/>
          </a:p>
        </p:txBody>
      </p:sp>
      <p:pic>
        <p:nvPicPr>
          <p:cNvPr id="191" name="Google Shape;191;p10"/>
          <p:cNvPicPr preferRelativeResize="0"/>
          <p:nvPr/>
        </p:nvPicPr>
        <p:blipFill rotWithShape="1">
          <a:blip r:embed="rId3">
            <a:alphaModFix/>
          </a:blip>
          <a:srcRect t="10233"/>
          <a:stretch/>
        </p:blipFill>
        <p:spPr>
          <a:xfrm>
            <a:off x="493650" y="1448875"/>
            <a:ext cx="6424724" cy="3561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aecf4c0a77_1_52"/>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Countries that consume wine the most are the happiest</a:t>
            </a:r>
            <a:endParaRPr/>
          </a:p>
        </p:txBody>
      </p:sp>
      <p:sp>
        <p:nvSpPr>
          <p:cNvPr id="197" name="Google Shape;197;gaecf4c0a77_1_52"/>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14</a:t>
            </a:fld>
            <a:endParaRPr/>
          </a:p>
        </p:txBody>
      </p:sp>
      <p:sp>
        <p:nvSpPr>
          <p:cNvPr id="198" name="Google Shape;198;gaecf4c0a77_1_52"/>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pic>
        <p:nvPicPr>
          <p:cNvPr id="199" name="Google Shape;199;gaecf4c0a77_1_52"/>
          <p:cNvPicPr preferRelativeResize="0"/>
          <p:nvPr/>
        </p:nvPicPr>
        <p:blipFill rotWithShape="1">
          <a:blip r:embed="rId3">
            <a:alphaModFix/>
          </a:blip>
          <a:srcRect t="10416" b="1979"/>
          <a:stretch/>
        </p:blipFill>
        <p:spPr>
          <a:xfrm>
            <a:off x="578725" y="1718000"/>
            <a:ext cx="6086726" cy="3292426"/>
          </a:xfrm>
          <a:prstGeom prst="rect">
            <a:avLst/>
          </a:prstGeom>
          <a:noFill/>
          <a:ln>
            <a:noFill/>
          </a:ln>
        </p:spPr>
      </p:pic>
      <p:sp>
        <p:nvSpPr>
          <p:cNvPr id="200" name="Google Shape;200;gaecf4c0a77_1_52"/>
          <p:cNvSpPr txBox="1"/>
          <p:nvPr/>
        </p:nvSpPr>
        <p:spPr>
          <a:xfrm>
            <a:off x="493650" y="1305800"/>
            <a:ext cx="7986900" cy="661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Box and whisker plot of countries that consume mostly wine, beer, or spirits</a:t>
            </a:r>
            <a:endParaRPr sz="1600" b="1">
              <a:latin typeface="Lato"/>
              <a:ea typeface="Lato"/>
              <a:cs typeface="Lato"/>
              <a:sym typeface="Lato"/>
            </a:endParaRPr>
          </a:p>
        </p:txBody>
      </p:sp>
      <p:sp>
        <p:nvSpPr>
          <p:cNvPr id="201" name="Google Shape;201;gaecf4c0a77_1_52"/>
          <p:cNvSpPr/>
          <p:nvPr/>
        </p:nvSpPr>
        <p:spPr>
          <a:xfrm>
            <a:off x="7081650" y="2147125"/>
            <a:ext cx="1746600" cy="1878900"/>
          </a:xfrm>
          <a:prstGeom prst="roundRect">
            <a:avLst>
              <a:gd name="adj" fmla="val 16667"/>
            </a:avLst>
          </a:prstGeom>
          <a:solidFill>
            <a:srgbClr val="FFFFFF"/>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Beer is the go to drink for both the </a:t>
            </a:r>
            <a:r>
              <a:rPr lang="en-US" b="1">
                <a:solidFill>
                  <a:schemeClr val="accent1"/>
                </a:solidFill>
              </a:rPr>
              <a:t>happiest </a:t>
            </a:r>
            <a:r>
              <a:rPr lang="en-US"/>
              <a:t>(Finland, Norway) and </a:t>
            </a:r>
            <a:r>
              <a:rPr lang="en-US" b="1">
                <a:solidFill>
                  <a:schemeClr val="accent4"/>
                </a:solidFill>
              </a:rPr>
              <a:t>unhappiest </a:t>
            </a:r>
            <a:r>
              <a:rPr lang="en-US"/>
              <a:t>(CAR, Tanzania) countries</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7"/>
          <p:cNvSpPr txBox="1">
            <a:spLocks noGrp="1"/>
          </p:cNvSpPr>
          <p:nvPr>
            <p:ph type="body" idx="1"/>
          </p:nvPr>
        </p:nvSpPr>
        <p:spPr>
          <a:xfrm>
            <a:off x="1710425" y="2161800"/>
            <a:ext cx="5723700" cy="819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600"/>
              </a:spcBef>
              <a:spcAft>
                <a:spcPts val="0"/>
              </a:spcAft>
              <a:buSzPts val="2400"/>
              <a:buNone/>
            </a:pPr>
            <a:r>
              <a:rPr lang="en-US" sz="3000"/>
              <a:t>Barriga llena, corazón contento</a:t>
            </a:r>
            <a:endParaRPr sz="3000"/>
          </a:p>
        </p:txBody>
      </p:sp>
      <p:sp>
        <p:nvSpPr>
          <p:cNvPr id="207" name="Google Shape;207;p7"/>
          <p:cNvSpPr txBox="1">
            <a:spLocks noGrp="1"/>
          </p:cNvSpPr>
          <p:nvPr>
            <p:ph type="sldNum" idx="12"/>
          </p:nvPr>
        </p:nvSpPr>
        <p:spPr>
          <a:xfrm>
            <a:off x="-125" y="4830281"/>
            <a:ext cx="9144000" cy="31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300"/>
              <a:buNone/>
            </a:pPr>
            <a:fld id="{00000000-1234-1234-1234-123412341234}" type="slidenum">
              <a:rPr lang="en-US"/>
              <a:t>15</a:t>
            </a:fld>
            <a:endParaRPr/>
          </a:p>
        </p:txBody>
      </p:sp>
      <p:sp>
        <p:nvSpPr>
          <p:cNvPr id="208" name="Google Shape;208;p7"/>
          <p:cNvSpPr txBox="1"/>
          <p:nvPr/>
        </p:nvSpPr>
        <p:spPr>
          <a:xfrm>
            <a:off x="3631349" y="2981700"/>
            <a:ext cx="188105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A5A5A5"/>
                </a:solidFill>
                <a:latin typeface="Arial"/>
                <a:ea typeface="Arial"/>
                <a:cs typeface="Arial"/>
                <a:sym typeface="Arial"/>
              </a:rPr>
              <a:t>Colombian saying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8"/>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Food makes people happy </a:t>
            </a:r>
            <a:endParaRPr/>
          </a:p>
        </p:txBody>
      </p:sp>
      <p:sp>
        <p:nvSpPr>
          <p:cNvPr id="214" name="Google Shape;214;p8"/>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16</a:t>
            </a:fld>
            <a:endParaRPr/>
          </a:p>
        </p:txBody>
      </p:sp>
      <p:sp>
        <p:nvSpPr>
          <p:cNvPr id="215" name="Google Shape;215;p8"/>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216" name="Google Shape;216;p8"/>
          <p:cNvSpPr txBox="1"/>
          <p:nvPr/>
        </p:nvSpPr>
        <p:spPr>
          <a:xfrm>
            <a:off x="493650" y="812475"/>
            <a:ext cx="8334600" cy="661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Relationship between food supply (kcal/capita/day) and happiness score, by continent</a:t>
            </a:r>
            <a:endParaRPr sz="1600" b="1">
              <a:latin typeface="Lato"/>
              <a:ea typeface="Lato"/>
              <a:cs typeface="Lato"/>
              <a:sym typeface="Lato"/>
            </a:endParaRPr>
          </a:p>
        </p:txBody>
      </p:sp>
      <p:pic>
        <p:nvPicPr>
          <p:cNvPr id="217" name="Google Shape;217;p8"/>
          <p:cNvPicPr preferRelativeResize="0"/>
          <p:nvPr/>
        </p:nvPicPr>
        <p:blipFill rotWithShape="1">
          <a:blip r:embed="rId3">
            <a:alphaModFix/>
          </a:blip>
          <a:srcRect t="11418" b="8842"/>
          <a:stretch/>
        </p:blipFill>
        <p:spPr>
          <a:xfrm>
            <a:off x="493650" y="1202176"/>
            <a:ext cx="7783802" cy="3832750"/>
          </a:xfrm>
          <a:prstGeom prst="rect">
            <a:avLst/>
          </a:prstGeom>
          <a:noFill/>
          <a:ln>
            <a:noFill/>
          </a:ln>
        </p:spPr>
      </p:pic>
      <p:sp>
        <p:nvSpPr>
          <p:cNvPr id="218" name="Google Shape;218;p8"/>
          <p:cNvSpPr txBox="1"/>
          <p:nvPr/>
        </p:nvSpPr>
        <p:spPr>
          <a:xfrm>
            <a:off x="6466350" y="4352575"/>
            <a:ext cx="1811100" cy="22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900">
                <a:solidFill>
                  <a:srgbClr val="999999"/>
                </a:solidFill>
              </a:rPr>
              <a:t>Source: FAO, WHR 2019</a:t>
            </a:r>
            <a:endParaRPr sz="900">
              <a:solidFill>
                <a:srgbClr val="99999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aecf4c0a77_1_43"/>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Happy as a clam? </a:t>
            </a:r>
            <a:endParaRPr/>
          </a:p>
        </p:txBody>
      </p:sp>
      <p:sp>
        <p:nvSpPr>
          <p:cNvPr id="224" name="Google Shape;224;gaecf4c0a77_1_43"/>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17</a:t>
            </a:fld>
            <a:endParaRPr/>
          </a:p>
        </p:txBody>
      </p:sp>
      <p:sp>
        <p:nvSpPr>
          <p:cNvPr id="225" name="Google Shape;225;gaecf4c0a77_1_43"/>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226" name="Google Shape;226;gaecf4c0a77_1_43"/>
          <p:cNvSpPr txBox="1"/>
          <p:nvPr/>
        </p:nvSpPr>
        <p:spPr>
          <a:xfrm>
            <a:off x="493650" y="812475"/>
            <a:ext cx="7986900" cy="661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Six of the top ten seafood consuming countries have a happiness score above average. </a:t>
            </a:r>
            <a:endParaRPr sz="1600" b="1">
              <a:latin typeface="Lato"/>
              <a:ea typeface="Lato"/>
              <a:cs typeface="Lato"/>
              <a:sym typeface="Lato"/>
            </a:endParaRPr>
          </a:p>
        </p:txBody>
      </p:sp>
      <p:pic>
        <p:nvPicPr>
          <p:cNvPr id="227" name="Google Shape;227;gaecf4c0a77_1_43"/>
          <p:cNvPicPr preferRelativeResize="0"/>
          <p:nvPr/>
        </p:nvPicPr>
        <p:blipFill rotWithShape="1">
          <a:blip r:embed="rId3">
            <a:alphaModFix/>
          </a:blip>
          <a:srcRect t="11413" b="5218"/>
          <a:stretch/>
        </p:blipFill>
        <p:spPr>
          <a:xfrm>
            <a:off x="533400" y="1224375"/>
            <a:ext cx="7354597" cy="3786051"/>
          </a:xfrm>
          <a:prstGeom prst="rect">
            <a:avLst/>
          </a:prstGeom>
          <a:noFill/>
          <a:ln>
            <a:noFill/>
          </a:ln>
        </p:spPr>
      </p:pic>
      <p:sp>
        <p:nvSpPr>
          <p:cNvPr id="228" name="Google Shape;228;gaecf4c0a77_1_43"/>
          <p:cNvSpPr txBox="1"/>
          <p:nvPr/>
        </p:nvSpPr>
        <p:spPr>
          <a:xfrm>
            <a:off x="6837550" y="4738925"/>
            <a:ext cx="1811100" cy="22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900">
                <a:solidFill>
                  <a:srgbClr val="999999"/>
                </a:solidFill>
              </a:rPr>
              <a:t>Source: FAO, WHR 2019</a:t>
            </a:r>
            <a:endParaRPr sz="900">
              <a:solidFill>
                <a:srgbClr val="99999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1"/>
          <p:cNvSpPr txBox="1">
            <a:spLocks noGrp="1"/>
          </p:cNvSpPr>
          <p:nvPr>
            <p:ph type="body" idx="1"/>
          </p:nvPr>
        </p:nvSpPr>
        <p:spPr>
          <a:xfrm>
            <a:off x="1710425" y="2161800"/>
            <a:ext cx="5723700" cy="819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600"/>
              </a:spcBef>
              <a:spcAft>
                <a:spcPts val="0"/>
              </a:spcAft>
              <a:buSzPts val="2400"/>
              <a:buNone/>
            </a:pPr>
            <a:r>
              <a:rPr lang="en-US" sz="3000"/>
              <a:t>Happy wife, happy life</a:t>
            </a:r>
            <a:endParaRPr/>
          </a:p>
          <a:p>
            <a:pPr marL="0" lvl="0" indent="0" algn="ctr" rtl="0">
              <a:lnSpc>
                <a:spcPct val="100000"/>
              </a:lnSpc>
              <a:spcBef>
                <a:spcPts val="600"/>
              </a:spcBef>
              <a:spcAft>
                <a:spcPts val="0"/>
              </a:spcAft>
              <a:buSzPts val="2400"/>
              <a:buNone/>
            </a:pPr>
            <a:endParaRPr sz="3000"/>
          </a:p>
        </p:txBody>
      </p:sp>
      <p:sp>
        <p:nvSpPr>
          <p:cNvPr id="234" name="Google Shape;234;p11"/>
          <p:cNvSpPr txBox="1">
            <a:spLocks noGrp="1"/>
          </p:cNvSpPr>
          <p:nvPr>
            <p:ph type="sldNum" idx="12"/>
          </p:nvPr>
        </p:nvSpPr>
        <p:spPr>
          <a:xfrm>
            <a:off x="-125" y="4830281"/>
            <a:ext cx="9144000" cy="31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300"/>
              <a:buNone/>
            </a:pPr>
            <a:fld id="{00000000-1234-1234-1234-123412341234}" type="slidenum">
              <a:rPr lang="en-US"/>
              <a:t>18</a:t>
            </a:fld>
            <a:endParaRPr/>
          </a:p>
        </p:txBody>
      </p:sp>
      <p:sp>
        <p:nvSpPr>
          <p:cNvPr id="235" name="Google Shape;235;p11"/>
          <p:cNvSpPr txBox="1"/>
          <p:nvPr/>
        </p:nvSpPr>
        <p:spPr>
          <a:xfrm>
            <a:off x="3631349" y="2981700"/>
            <a:ext cx="188105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A5A5A5"/>
                </a:solidFill>
                <a:latin typeface="Arial"/>
                <a:ea typeface="Arial"/>
                <a:cs typeface="Arial"/>
                <a:sym typeface="Arial"/>
              </a:rPr>
              <a:t>Unknown - USA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12"/>
          <p:cNvPicPr preferRelativeResize="0"/>
          <p:nvPr/>
        </p:nvPicPr>
        <p:blipFill rotWithShape="1">
          <a:blip r:embed="rId3">
            <a:alphaModFix/>
          </a:blip>
          <a:srcRect t="12522" b="7156"/>
          <a:stretch/>
        </p:blipFill>
        <p:spPr>
          <a:xfrm>
            <a:off x="690175" y="1002400"/>
            <a:ext cx="7763649" cy="3855075"/>
          </a:xfrm>
          <a:prstGeom prst="rect">
            <a:avLst/>
          </a:prstGeom>
          <a:noFill/>
          <a:ln>
            <a:noFill/>
          </a:ln>
        </p:spPr>
      </p:pic>
      <p:sp>
        <p:nvSpPr>
          <p:cNvPr id="241" name="Google Shape;241;p12"/>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Gender equality across the world </a:t>
            </a:r>
            <a:endParaRPr/>
          </a:p>
        </p:txBody>
      </p:sp>
      <p:sp>
        <p:nvSpPr>
          <p:cNvPr id="242" name="Google Shape;242;p12"/>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19</a:t>
            </a:fld>
            <a:endParaRPr/>
          </a:p>
        </p:txBody>
      </p:sp>
      <p:sp>
        <p:nvSpPr>
          <p:cNvPr id="243" name="Google Shape;243;p12"/>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244" name="Google Shape;244;p12"/>
          <p:cNvSpPr txBox="1"/>
          <p:nvPr/>
        </p:nvSpPr>
        <p:spPr>
          <a:xfrm>
            <a:off x="6399200" y="4701175"/>
            <a:ext cx="2249400" cy="22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900">
                <a:solidFill>
                  <a:srgbClr val="999999"/>
                </a:solidFill>
              </a:rPr>
              <a:t>Source: World Bank</a:t>
            </a:r>
            <a:endParaRPr sz="900">
              <a:solidFill>
                <a:srgbClr val="99999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gaecf4c0a77_1_61"/>
          <p:cNvPicPr preferRelativeResize="0"/>
          <p:nvPr/>
        </p:nvPicPr>
        <p:blipFill rotWithShape="1">
          <a:blip r:embed="rId3">
            <a:alphaModFix/>
          </a:blip>
          <a:srcRect t="11347"/>
          <a:stretch/>
        </p:blipFill>
        <p:spPr>
          <a:xfrm>
            <a:off x="493650" y="1233306"/>
            <a:ext cx="6654126" cy="3646770"/>
          </a:xfrm>
          <a:prstGeom prst="rect">
            <a:avLst/>
          </a:prstGeom>
          <a:noFill/>
          <a:ln>
            <a:noFill/>
          </a:ln>
        </p:spPr>
      </p:pic>
      <p:sp>
        <p:nvSpPr>
          <p:cNvPr id="250" name="Google Shape;250;gaecf4c0a77_1_61"/>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More equal countries tend to be happier</a:t>
            </a:r>
            <a:endParaRPr/>
          </a:p>
        </p:txBody>
      </p:sp>
      <p:sp>
        <p:nvSpPr>
          <p:cNvPr id="251" name="Google Shape;251;gaecf4c0a77_1_61"/>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20</a:t>
            </a:fld>
            <a:endParaRPr/>
          </a:p>
        </p:txBody>
      </p:sp>
      <p:sp>
        <p:nvSpPr>
          <p:cNvPr id="252" name="Google Shape;252;gaecf4c0a77_1_61"/>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253" name="Google Shape;253;gaecf4c0a77_1_61"/>
          <p:cNvSpPr/>
          <p:nvPr/>
        </p:nvSpPr>
        <p:spPr>
          <a:xfrm>
            <a:off x="871750" y="1233125"/>
            <a:ext cx="2939100" cy="2154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gaecf4c0a77_1_61"/>
          <p:cNvSpPr txBox="1"/>
          <p:nvPr/>
        </p:nvSpPr>
        <p:spPr>
          <a:xfrm>
            <a:off x="493650" y="848600"/>
            <a:ext cx="7986900" cy="457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Gender equality index vs. happiness score, by continent and population size</a:t>
            </a:r>
            <a:endParaRPr sz="1600" b="1">
              <a:latin typeface="Lato"/>
              <a:ea typeface="Lato"/>
              <a:cs typeface="Lato"/>
              <a:sym typeface="Lato"/>
            </a:endParaRPr>
          </a:p>
        </p:txBody>
      </p:sp>
      <p:sp>
        <p:nvSpPr>
          <p:cNvPr id="255" name="Google Shape;255;gaecf4c0a77_1_61"/>
          <p:cNvSpPr/>
          <p:nvPr/>
        </p:nvSpPr>
        <p:spPr>
          <a:xfrm>
            <a:off x="7147775" y="1976375"/>
            <a:ext cx="1656300" cy="18744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solidFill>
                  <a:schemeClr val="accent4"/>
                </a:solidFill>
              </a:rPr>
              <a:t>EU countries</a:t>
            </a:r>
            <a:endParaRPr sz="1300"/>
          </a:p>
          <a:p>
            <a:pPr marL="0" lvl="0" indent="0" algn="ctr" rtl="0">
              <a:spcBef>
                <a:spcPts val="0"/>
              </a:spcBef>
              <a:spcAft>
                <a:spcPts val="0"/>
              </a:spcAft>
              <a:buNone/>
            </a:pPr>
            <a:r>
              <a:rPr lang="en-US" sz="1300"/>
              <a:t>with a small population density and</a:t>
            </a:r>
            <a:r>
              <a:rPr lang="en-US" sz="1300">
                <a:solidFill>
                  <a:schemeClr val="dk1"/>
                </a:solidFill>
              </a:rPr>
              <a:t> high gender equality index</a:t>
            </a:r>
            <a:r>
              <a:rPr lang="en-US" sz="1300"/>
              <a:t>, tend to be happier.</a:t>
            </a:r>
            <a:endParaRPr sz="1300" b="1"/>
          </a:p>
        </p:txBody>
      </p:sp>
      <p:sp>
        <p:nvSpPr>
          <p:cNvPr id="256" name="Google Shape;256;gaecf4c0a77_1_61"/>
          <p:cNvSpPr txBox="1"/>
          <p:nvPr/>
        </p:nvSpPr>
        <p:spPr>
          <a:xfrm>
            <a:off x="6399200" y="4701175"/>
            <a:ext cx="2249400" cy="22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900">
                <a:solidFill>
                  <a:srgbClr val="999999"/>
                </a:solidFill>
              </a:rPr>
              <a:t>Source: World Bank, WHR 2019</a:t>
            </a:r>
            <a:endParaRPr sz="900">
              <a:solidFill>
                <a:srgbClr val="99999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gaecf4c0a77_1_69"/>
          <p:cNvPicPr preferRelativeResize="0"/>
          <p:nvPr/>
        </p:nvPicPr>
        <p:blipFill rotWithShape="1">
          <a:blip r:embed="rId3">
            <a:alphaModFix/>
          </a:blip>
          <a:srcRect l="5545" t="13149" r="5304"/>
          <a:stretch/>
        </p:blipFill>
        <p:spPr>
          <a:xfrm>
            <a:off x="137775" y="1202175"/>
            <a:ext cx="6349679" cy="3820125"/>
          </a:xfrm>
          <a:prstGeom prst="rect">
            <a:avLst/>
          </a:prstGeom>
          <a:noFill/>
          <a:ln>
            <a:noFill/>
          </a:ln>
        </p:spPr>
      </p:pic>
      <p:sp>
        <p:nvSpPr>
          <p:cNvPr id="262" name="Google Shape;262;gaecf4c0a77_1_69"/>
          <p:cNvSpPr txBox="1">
            <a:spLocks noGrp="1"/>
          </p:cNvSpPr>
          <p:nvPr>
            <p:ph type="title"/>
          </p:nvPr>
        </p:nvSpPr>
        <p:spPr>
          <a:xfrm>
            <a:off x="493652" y="268583"/>
            <a:ext cx="8258400"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Decision Tree Model </a:t>
            </a:r>
            <a:endParaRPr/>
          </a:p>
        </p:txBody>
      </p:sp>
      <p:sp>
        <p:nvSpPr>
          <p:cNvPr id="263" name="Google Shape;263;gaecf4c0a77_1_69"/>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21</a:t>
            </a:fld>
            <a:endParaRPr/>
          </a:p>
        </p:txBody>
      </p:sp>
      <p:sp>
        <p:nvSpPr>
          <p:cNvPr id="264" name="Google Shape;264;gaecf4c0a77_1_69"/>
          <p:cNvSpPr txBox="1"/>
          <p:nvPr/>
        </p:nvSpPr>
        <p:spPr>
          <a:xfrm>
            <a:off x="493652" y="160861"/>
            <a:ext cx="5830200" cy="2154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pic>
        <p:nvPicPr>
          <p:cNvPr id="265" name="Google Shape;265;gaecf4c0a77_1_69"/>
          <p:cNvPicPr preferRelativeResize="0"/>
          <p:nvPr/>
        </p:nvPicPr>
        <p:blipFill>
          <a:blip r:embed="rId4">
            <a:alphaModFix amt="44000"/>
          </a:blip>
          <a:stretch>
            <a:fillRect/>
          </a:stretch>
        </p:blipFill>
        <p:spPr>
          <a:xfrm>
            <a:off x="6526125" y="553452"/>
            <a:ext cx="1976625" cy="2543851"/>
          </a:xfrm>
          <a:prstGeom prst="rect">
            <a:avLst/>
          </a:prstGeom>
          <a:noFill/>
          <a:ln>
            <a:noFill/>
          </a:ln>
        </p:spPr>
      </p:pic>
      <p:graphicFrame>
        <p:nvGraphicFramePr>
          <p:cNvPr id="266" name="Google Shape;266;gaecf4c0a77_1_69"/>
          <p:cNvGraphicFramePr/>
          <p:nvPr/>
        </p:nvGraphicFramePr>
        <p:xfrm>
          <a:off x="6159550" y="1125950"/>
          <a:ext cx="2709775" cy="1280070"/>
        </p:xfrm>
        <a:graphic>
          <a:graphicData uri="http://schemas.openxmlformats.org/drawingml/2006/table">
            <a:tbl>
              <a:tblPr>
                <a:noFill/>
                <a:tableStyleId>{DCE97370-DAB5-4002-AD25-9BC731B3A165}</a:tableStyleId>
              </a:tblPr>
              <a:tblGrid>
                <a:gridCol w="1676375">
                  <a:extLst>
                    <a:ext uri="{9D8B030D-6E8A-4147-A177-3AD203B41FA5}">
                      <a16:colId xmlns:a16="http://schemas.microsoft.com/office/drawing/2014/main" val="20000"/>
                    </a:ext>
                  </a:extLst>
                </a:gridCol>
                <a:gridCol w="1033400">
                  <a:extLst>
                    <a:ext uri="{9D8B030D-6E8A-4147-A177-3AD203B41FA5}">
                      <a16:colId xmlns:a16="http://schemas.microsoft.com/office/drawing/2014/main" val="20001"/>
                    </a:ext>
                  </a:extLst>
                </a:gridCol>
              </a:tblGrid>
              <a:tr h="310600">
                <a:tc>
                  <a:txBody>
                    <a:bodyPr/>
                    <a:lstStyle/>
                    <a:p>
                      <a:pPr marL="0" lvl="0" indent="0" algn="l" rtl="0">
                        <a:spcBef>
                          <a:spcPts val="0"/>
                        </a:spcBef>
                        <a:spcAft>
                          <a:spcPts val="0"/>
                        </a:spcAft>
                        <a:buNone/>
                      </a:pPr>
                      <a:r>
                        <a:rPr lang="en-US" sz="1200" b="1"/>
                        <a:t>GDP per Capita (k)</a:t>
                      </a:r>
                      <a:endParaRPr sz="1200" b="1"/>
                    </a:p>
                  </a:txBody>
                  <a:tcPr marL="91425" marR="91425" marT="91425" marB="91425" anchor="ctr"/>
                </a:tc>
                <a:tc>
                  <a:txBody>
                    <a:bodyPr/>
                    <a:lstStyle/>
                    <a:p>
                      <a:pPr marL="0" lvl="0" indent="0" algn="l" rtl="0">
                        <a:spcBef>
                          <a:spcPts val="0"/>
                        </a:spcBef>
                        <a:spcAft>
                          <a:spcPts val="0"/>
                        </a:spcAft>
                        <a:buNone/>
                      </a:pPr>
                      <a:r>
                        <a:rPr lang="en-US" sz="1200"/>
                        <a:t>48.7</a:t>
                      </a:r>
                      <a:endParaRPr sz="1200"/>
                    </a:p>
                  </a:txBody>
                  <a:tcPr marL="91425" marR="91425" marT="91425" marB="91425" anchor="ctr"/>
                </a:tc>
                <a:extLst>
                  <a:ext uri="{0D108BD9-81ED-4DB2-BD59-A6C34878D82A}">
                    <a16:rowId xmlns:a16="http://schemas.microsoft.com/office/drawing/2014/main" val="10000"/>
                  </a:ext>
                </a:extLst>
              </a:tr>
              <a:tr h="310600">
                <a:tc>
                  <a:txBody>
                    <a:bodyPr/>
                    <a:lstStyle/>
                    <a:p>
                      <a:pPr marL="0" lvl="0" indent="0" algn="l" rtl="0">
                        <a:spcBef>
                          <a:spcPts val="0"/>
                        </a:spcBef>
                        <a:spcAft>
                          <a:spcPts val="0"/>
                        </a:spcAft>
                        <a:buNone/>
                      </a:pPr>
                      <a:r>
                        <a:rPr lang="en-US" sz="1200" b="1"/>
                        <a:t>Gini Index</a:t>
                      </a:r>
                      <a:endParaRPr sz="1200" b="1"/>
                    </a:p>
                  </a:txBody>
                  <a:tcPr marL="91425" marR="91425" marT="91425" marB="91425" anchor="ctr"/>
                </a:tc>
                <a:tc>
                  <a:txBody>
                    <a:bodyPr/>
                    <a:lstStyle/>
                    <a:p>
                      <a:pPr marL="0" lvl="0" indent="0" algn="l" rtl="0">
                        <a:spcBef>
                          <a:spcPts val="0"/>
                        </a:spcBef>
                        <a:spcAft>
                          <a:spcPts val="0"/>
                        </a:spcAft>
                        <a:buNone/>
                      </a:pPr>
                      <a:r>
                        <a:rPr lang="en-US" sz="1200"/>
                        <a:t>33.2</a:t>
                      </a:r>
                      <a:endParaRPr sz="1200"/>
                    </a:p>
                  </a:txBody>
                  <a:tcPr marL="91425" marR="91425" marT="91425" marB="91425" anchor="ctr"/>
                </a:tc>
                <a:extLst>
                  <a:ext uri="{0D108BD9-81ED-4DB2-BD59-A6C34878D82A}">
                    <a16:rowId xmlns:a16="http://schemas.microsoft.com/office/drawing/2014/main" val="10001"/>
                  </a:ext>
                </a:extLst>
              </a:tr>
              <a:tr h="465100">
                <a:tc>
                  <a:txBody>
                    <a:bodyPr/>
                    <a:lstStyle/>
                    <a:p>
                      <a:pPr marL="0" lvl="0" indent="0" algn="l" rtl="0">
                        <a:spcBef>
                          <a:spcPts val="0"/>
                        </a:spcBef>
                        <a:spcAft>
                          <a:spcPts val="0"/>
                        </a:spcAft>
                        <a:buNone/>
                      </a:pPr>
                      <a:r>
                        <a:rPr lang="en-US" sz="1200" b="1"/>
                        <a:t>Gender Equality Indicator</a:t>
                      </a:r>
                      <a:endParaRPr sz="1200" b="1"/>
                    </a:p>
                  </a:txBody>
                  <a:tcPr marL="91425" marR="91425" marT="91425" marB="91425" anchor="ctr"/>
                </a:tc>
                <a:tc>
                  <a:txBody>
                    <a:bodyPr/>
                    <a:lstStyle/>
                    <a:p>
                      <a:pPr marL="0" lvl="0" indent="0" algn="l" rtl="0">
                        <a:spcBef>
                          <a:spcPts val="0"/>
                        </a:spcBef>
                        <a:spcAft>
                          <a:spcPts val="0"/>
                        </a:spcAft>
                        <a:buNone/>
                      </a:pPr>
                      <a:r>
                        <a:rPr lang="en-US" sz="1200"/>
                        <a:t>0.78</a:t>
                      </a:r>
                      <a:endParaRPr sz="1200"/>
                    </a:p>
                  </a:txBody>
                  <a:tcPr marL="91425" marR="91425" marT="91425" marB="91425" anchor="ctr"/>
                </a:tc>
                <a:extLst>
                  <a:ext uri="{0D108BD9-81ED-4DB2-BD59-A6C34878D82A}">
                    <a16:rowId xmlns:a16="http://schemas.microsoft.com/office/drawing/2014/main" val="10002"/>
                  </a:ext>
                </a:extLst>
              </a:tr>
            </a:tbl>
          </a:graphicData>
        </a:graphic>
      </p:graphicFrame>
      <p:sp>
        <p:nvSpPr>
          <p:cNvPr id="267" name="Google Shape;267;gaecf4c0a77_1_69"/>
          <p:cNvSpPr txBox="1"/>
          <p:nvPr/>
        </p:nvSpPr>
        <p:spPr>
          <a:xfrm>
            <a:off x="6159550" y="812450"/>
            <a:ext cx="2330400" cy="313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b="1">
                <a:solidFill>
                  <a:schemeClr val="dk1"/>
                </a:solidFill>
                <a:latin typeface="Lato"/>
                <a:ea typeface="Lato"/>
                <a:cs typeface="Lato"/>
                <a:sym typeface="Lato"/>
              </a:rPr>
              <a:t>Great Britain Indicators</a:t>
            </a:r>
            <a:endParaRPr b="1">
              <a:solidFill>
                <a:schemeClr val="dk1"/>
              </a:solidFill>
              <a:latin typeface="Lato"/>
              <a:ea typeface="Lato"/>
              <a:cs typeface="Lato"/>
              <a:sym typeface="Lato"/>
            </a:endParaRPr>
          </a:p>
        </p:txBody>
      </p:sp>
      <p:sp>
        <p:nvSpPr>
          <p:cNvPr id="268" name="Google Shape;268;gaecf4c0a77_1_69"/>
          <p:cNvSpPr txBox="1"/>
          <p:nvPr/>
        </p:nvSpPr>
        <p:spPr>
          <a:xfrm>
            <a:off x="493650" y="812450"/>
            <a:ext cx="4347900" cy="313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Results of the Decision Tree Model </a:t>
            </a:r>
            <a:endParaRPr sz="1600" b="1">
              <a:solidFill>
                <a:schemeClr val="dk1"/>
              </a:solidFill>
              <a:latin typeface="Lato"/>
              <a:ea typeface="Lato"/>
              <a:cs typeface="Lato"/>
              <a:sym typeface="Lato"/>
            </a:endParaRPr>
          </a:p>
        </p:txBody>
      </p:sp>
      <p:cxnSp>
        <p:nvCxnSpPr>
          <p:cNvPr id="269" name="Google Shape;269;gaecf4c0a77_1_69"/>
          <p:cNvCxnSpPr/>
          <p:nvPr/>
        </p:nvCxnSpPr>
        <p:spPr>
          <a:xfrm>
            <a:off x="4045550" y="1648800"/>
            <a:ext cx="1045500" cy="0"/>
          </a:xfrm>
          <a:prstGeom prst="straightConnector1">
            <a:avLst/>
          </a:prstGeom>
          <a:noFill/>
          <a:ln w="19050" cap="flat" cmpd="sng">
            <a:solidFill>
              <a:srgbClr val="FDB519"/>
            </a:solidFill>
            <a:prstDash val="solid"/>
            <a:round/>
            <a:headEnd type="none" w="med" len="med"/>
            <a:tailEnd type="none" w="med" len="med"/>
          </a:ln>
        </p:spPr>
      </p:cxnSp>
      <p:cxnSp>
        <p:nvCxnSpPr>
          <p:cNvPr id="270" name="Google Shape;270;gaecf4c0a77_1_69"/>
          <p:cNvCxnSpPr/>
          <p:nvPr/>
        </p:nvCxnSpPr>
        <p:spPr>
          <a:xfrm>
            <a:off x="5091050" y="1648800"/>
            <a:ext cx="0" cy="146700"/>
          </a:xfrm>
          <a:prstGeom prst="straightConnector1">
            <a:avLst/>
          </a:prstGeom>
          <a:noFill/>
          <a:ln w="19050" cap="flat" cmpd="sng">
            <a:solidFill>
              <a:srgbClr val="FDB519"/>
            </a:solidFill>
            <a:prstDash val="solid"/>
            <a:round/>
            <a:headEnd type="none" w="med" len="med"/>
            <a:tailEnd type="none" w="med" len="med"/>
          </a:ln>
        </p:spPr>
      </p:cxnSp>
      <p:cxnSp>
        <p:nvCxnSpPr>
          <p:cNvPr id="271" name="Google Shape;271;gaecf4c0a77_1_69"/>
          <p:cNvCxnSpPr/>
          <p:nvPr/>
        </p:nvCxnSpPr>
        <p:spPr>
          <a:xfrm>
            <a:off x="6029275" y="2862375"/>
            <a:ext cx="0" cy="1500000"/>
          </a:xfrm>
          <a:prstGeom prst="straightConnector1">
            <a:avLst/>
          </a:prstGeom>
          <a:noFill/>
          <a:ln w="19050" cap="flat" cmpd="sng">
            <a:solidFill>
              <a:srgbClr val="FDB519"/>
            </a:solidFill>
            <a:prstDash val="solid"/>
            <a:round/>
            <a:headEnd type="none" w="med" len="med"/>
            <a:tailEnd type="none" w="med" len="med"/>
          </a:ln>
        </p:spPr>
      </p:cxnSp>
      <p:cxnSp>
        <p:nvCxnSpPr>
          <p:cNvPr id="272" name="Google Shape;272;gaecf4c0a77_1_69"/>
          <p:cNvCxnSpPr/>
          <p:nvPr/>
        </p:nvCxnSpPr>
        <p:spPr>
          <a:xfrm>
            <a:off x="5719700" y="2214575"/>
            <a:ext cx="0" cy="152400"/>
          </a:xfrm>
          <a:prstGeom prst="straightConnector1">
            <a:avLst/>
          </a:prstGeom>
          <a:noFill/>
          <a:ln w="19050" cap="flat" cmpd="sng">
            <a:solidFill>
              <a:srgbClr val="FDB519"/>
            </a:solidFill>
            <a:prstDash val="solid"/>
            <a:round/>
            <a:headEnd type="none" w="med" len="med"/>
            <a:tailEnd type="none" w="med" len="med"/>
          </a:ln>
        </p:spPr>
      </p:cxnSp>
      <p:cxnSp>
        <p:nvCxnSpPr>
          <p:cNvPr id="273" name="Google Shape;273;gaecf4c0a77_1_69"/>
          <p:cNvCxnSpPr/>
          <p:nvPr/>
        </p:nvCxnSpPr>
        <p:spPr>
          <a:xfrm>
            <a:off x="5555250" y="2214575"/>
            <a:ext cx="169200" cy="0"/>
          </a:xfrm>
          <a:prstGeom prst="straightConnector1">
            <a:avLst/>
          </a:prstGeom>
          <a:noFill/>
          <a:ln w="19050" cap="flat" cmpd="sng">
            <a:solidFill>
              <a:srgbClr val="FDB519"/>
            </a:solidFill>
            <a:prstDash val="solid"/>
            <a:roun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3"/>
          <p:cNvSpPr txBox="1">
            <a:spLocks noGrp="1"/>
          </p:cNvSpPr>
          <p:nvPr>
            <p:ph type="title"/>
          </p:nvPr>
        </p:nvSpPr>
        <p:spPr>
          <a:xfrm>
            <a:off x="493652" y="268583"/>
            <a:ext cx="8258462"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Predicting the UK’s happiness score </a:t>
            </a:r>
            <a:endParaRPr/>
          </a:p>
        </p:txBody>
      </p:sp>
      <p:sp>
        <p:nvSpPr>
          <p:cNvPr id="279" name="Google Shape;279;p13"/>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22</a:t>
            </a:fld>
            <a:endParaRPr/>
          </a:p>
        </p:txBody>
      </p:sp>
      <p:sp>
        <p:nvSpPr>
          <p:cNvPr id="280" name="Google Shape;280;p13"/>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a:t>
            </a:r>
            <a:r>
              <a:rPr lang="en-US" sz="800" b="1" i="0" u="none" strike="noStrike" cap="none">
                <a:solidFill>
                  <a:schemeClr val="accent1"/>
                </a:solidFill>
                <a:latin typeface="Arial"/>
                <a:ea typeface="Arial"/>
                <a:cs typeface="Arial"/>
                <a:sym typeface="Arial"/>
              </a:rPr>
              <a:t>RESULTS AND CONCLUSIONS </a:t>
            </a:r>
            <a:r>
              <a:rPr lang="en-US" sz="800" b="1" i="0" u="none" strike="noStrike" cap="none">
                <a:solidFill>
                  <a:srgbClr val="A5A5A5"/>
                </a:solidFill>
                <a:latin typeface="Arial"/>
                <a:ea typeface="Arial"/>
                <a:cs typeface="Arial"/>
                <a:sym typeface="Arial"/>
              </a:rPr>
              <a:t>•  DISCUSSION AND CRITIQUE</a:t>
            </a:r>
            <a:endParaRPr/>
          </a:p>
        </p:txBody>
      </p:sp>
      <p:sp>
        <p:nvSpPr>
          <p:cNvPr id="281" name="Google Shape;281;p13"/>
          <p:cNvSpPr txBox="1"/>
          <p:nvPr/>
        </p:nvSpPr>
        <p:spPr>
          <a:xfrm>
            <a:off x="493650" y="848600"/>
            <a:ext cx="7986900" cy="457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1600" b="1">
                <a:latin typeface="Lato"/>
                <a:ea typeface="Lato"/>
                <a:cs typeface="Lato"/>
                <a:sym typeface="Lato"/>
              </a:rPr>
              <a:t>Actual happiness diverts from our predictions, indicating poor model performance</a:t>
            </a:r>
            <a:endParaRPr sz="1600" b="1">
              <a:latin typeface="Lato"/>
              <a:ea typeface="Lato"/>
              <a:cs typeface="Lato"/>
              <a:sym typeface="Lato"/>
            </a:endParaRPr>
          </a:p>
        </p:txBody>
      </p:sp>
      <p:pic>
        <p:nvPicPr>
          <p:cNvPr id="282" name="Google Shape;282;p13"/>
          <p:cNvPicPr preferRelativeResize="0"/>
          <p:nvPr/>
        </p:nvPicPr>
        <p:blipFill rotWithShape="1">
          <a:blip r:embed="rId3">
            <a:alphaModFix/>
          </a:blip>
          <a:srcRect t="16282"/>
          <a:stretch/>
        </p:blipFill>
        <p:spPr>
          <a:xfrm>
            <a:off x="749525" y="1188950"/>
            <a:ext cx="7440823" cy="3846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4"/>
          <p:cNvSpPr txBox="1">
            <a:spLocks noGrp="1"/>
          </p:cNvSpPr>
          <p:nvPr>
            <p:ph type="title"/>
          </p:nvPr>
        </p:nvSpPr>
        <p:spPr>
          <a:xfrm>
            <a:off x="493652" y="268583"/>
            <a:ext cx="8258462" cy="8574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3200"/>
              <a:buNone/>
            </a:pPr>
            <a:r>
              <a:rPr lang="en-US"/>
              <a:t>Limitations and what we’ve learned</a:t>
            </a:r>
            <a:endParaRPr/>
          </a:p>
        </p:txBody>
      </p:sp>
      <p:sp>
        <p:nvSpPr>
          <p:cNvPr id="288" name="Google Shape;288;p14"/>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23</a:t>
            </a:fld>
            <a:endParaRPr/>
          </a:p>
        </p:txBody>
      </p:sp>
      <p:sp>
        <p:nvSpPr>
          <p:cNvPr id="289" name="Google Shape;289;p14"/>
          <p:cNvSpPr txBox="1"/>
          <p:nvPr/>
        </p:nvSpPr>
        <p:spPr>
          <a:xfrm>
            <a:off x="493652" y="160861"/>
            <a:ext cx="5830146" cy="215444"/>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A5A5A5"/>
                </a:solidFill>
                <a:latin typeface="Arial"/>
                <a:ea typeface="Arial"/>
                <a:cs typeface="Arial"/>
                <a:sym typeface="Arial"/>
              </a:rPr>
              <a:t>PURPOSE AND METHODOLOGY • RESULTS AND CONCLUSIONS • </a:t>
            </a:r>
            <a:r>
              <a:rPr lang="en-US" sz="800" b="1" i="0" u="none" strike="noStrike" cap="none">
                <a:solidFill>
                  <a:srgbClr val="FDB519"/>
                </a:solidFill>
                <a:latin typeface="Arial"/>
                <a:ea typeface="Arial"/>
                <a:cs typeface="Arial"/>
                <a:sym typeface="Arial"/>
              </a:rPr>
              <a:t> DISCUSSION AND CRITIQUE</a:t>
            </a:r>
            <a:endParaRPr/>
          </a:p>
        </p:txBody>
      </p:sp>
      <p:sp>
        <p:nvSpPr>
          <p:cNvPr id="290" name="Google Shape;290;p14"/>
          <p:cNvSpPr txBox="1">
            <a:spLocks noGrp="1"/>
          </p:cNvSpPr>
          <p:nvPr>
            <p:ph type="body" idx="1"/>
          </p:nvPr>
        </p:nvSpPr>
        <p:spPr>
          <a:xfrm>
            <a:off x="493651" y="850928"/>
            <a:ext cx="8156700" cy="857400"/>
          </a:xfrm>
          <a:prstGeom prst="rect">
            <a:avLst/>
          </a:prstGeom>
          <a:noFill/>
          <a:ln>
            <a:noFill/>
          </a:ln>
        </p:spPr>
        <p:txBody>
          <a:bodyPr spcFirstLastPara="1" wrap="square" lIns="0" tIns="91425" rIns="91425" bIns="91425" anchor="t" anchorCtr="0">
            <a:noAutofit/>
          </a:bodyPr>
          <a:lstStyle/>
          <a:p>
            <a:pPr marL="114300" lvl="0" indent="0" algn="l" rtl="0">
              <a:lnSpc>
                <a:spcPct val="100000"/>
              </a:lnSpc>
              <a:spcBef>
                <a:spcPts val="600"/>
              </a:spcBef>
              <a:spcAft>
                <a:spcPts val="0"/>
              </a:spcAft>
              <a:buSzPts val="1800"/>
              <a:buNone/>
            </a:pPr>
            <a:r>
              <a:rPr lang="en-US" sz="1600" b="1"/>
              <a:t>While we’re happy with our results, we want to discuss some of the limitations of our work, and what we </a:t>
            </a:r>
            <a:r>
              <a:rPr lang="en-US" sz="1600" b="1">
                <a:solidFill>
                  <a:schemeClr val="accent2"/>
                </a:solidFill>
              </a:rPr>
              <a:t>might do differently next time.</a:t>
            </a:r>
            <a:r>
              <a:rPr lang="en-US" sz="1600" b="1">
                <a:solidFill>
                  <a:schemeClr val="accent1"/>
                </a:solidFill>
              </a:rPr>
              <a:t> </a:t>
            </a:r>
            <a:endParaRPr sz="1600" b="1">
              <a:solidFill>
                <a:schemeClr val="accent1"/>
              </a:solidFill>
            </a:endParaRPr>
          </a:p>
          <a:p>
            <a:pPr marL="114300" lvl="0" indent="0" algn="l" rtl="0">
              <a:lnSpc>
                <a:spcPct val="100000"/>
              </a:lnSpc>
              <a:spcBef>
                <a:spcPts val="600"/>
              </a:spcBef>
              <a:spcAft>
                <a:spcPts val="0"/>
              </a:spcAft>
              <a:buSzPts val="1800"/>
              <a:buNone/>
            </a:pPr>
            <a:endParaRPr b="1"/>
          </a:p>
        </p:txBody>
      </p:sp>
      <p:sp>
        <p:nvSpPr>
          <p:cNvPr id="291" name="Google Shape;291;p14"/>
          <p:cNvSpPr txBox="1"/>
          <p:nvPr/>
        </p:nvSpPr>
        <p:spPr>
          <a:xfrm>
            <a:off x="493650" y="1943025"/>
            <a:ext cx="25851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600">
                <a:solidFill>
                  <a:schemeClr val="dk1"/>
                </a:solidFill>
                <a:latin typeface="Lato Black"/>
                <a:ea typeface="Lato Black"/>
                <a:cs typeface="Lato Black"/>
                <a:sym typeface="Lato Black"/>
              </a:rPr>
              <a:t>Our Datasets </a:t>
            </a:r>
            <a:endParaRPr sz="1600">
              <a:latin typeface="Lato Black"/>
              <a:ea typeface="Lato Black"/>
              <a:cs typeface="Lato Black"/>
              <a:sym typeface="Lato Black"/>
            </a:endParaRPr>
          </a:p>
        </p:txBody>
      </p:sp>
      <p:cxnSp>
        <p:nvCxnSpPr>
          <p:cNvPr id="292" name="Google Shape;292;p14"/>
          <p:cNvCxnSpPr/>
          <p:nvPr/>
        </p:nvCxnSpPr>
        <p:spPr>
          <a:xfrm rot="10800000" flipH="1">
            <a:off x="562792" y="2310556"/>
            <a:ext cx="2516100" cy="3300"/>
          </a:xfrm>
          <a:prstGeom prst="straightConnector1">
            <a:avLst/>
          </a:prstGeom>
          <a:noFill/>
          <a:ln w="19050" cap="flat" cmpd="sng">
            <a:solidFill>
              <a:schemeClr val="accent2"/>
            </a:solidFill>
            <a:prstDash val="solid"/>
            <a:round/>
            <a:headEnd type="none" w="sm" len="sm"/>
            <a:tailEnd type="none" w="sm" len="sm"/>
          </a:ln>
        </p:spPr>
      </p:cxnSp>
      <p:sp>
        <p:nvSpPr>
          <p:cNvPr id="293" name="Google Shape;293;p14"/>
          <p:cNvSpPr txBox="1"/>
          <p:nvPr/>
        </p:nvSpPr>
        <p:spPr>
          <a:xfrm>
            <a:off x="562803" y="2466225"/>
            <a:ext cx="2516100" cy="1995300"/>
          </a:xfrm>
          <a:prstGeom prst="rect">
            <a:avLst/>
          </a:prstGeom>
          <a:noFill/>
          <a:ln>
            <a:noFill/>
          </a:ln>
        </p:spPr>
        <p:txBody>
          <a:bodyPr spcFirstLastPara="1" wrap="square" lIns="91425" tIns="45700" rIns="91425" bIns="45700" anchor="t" anchorCtr="0">
            <a:noAutofit/>
          </a:bodyPr>
          <a:lstStyle/>
          <a:p>
            <a:pPr marL="137160" marR="0" lvl="0" indent="-137160" algn="l" rtl="0">
              <a:lnSpc>
                <a:spcPct val="100000"/>
              </a:lnSpc>
              <a:spcBef>
                <a:spcPts val="0"/>
              </a:spcBef>
              <a:spcAft>
                <a:spcPts val="0"/>
              </a:spcAft>
              <a:buClr>
                <a:schemeClr val="accent1"/>
              </a:buClr>
              <a:buSzPts val="1300"/>
              <a:buFont typeface="Arial"/>
              <a:buChar char="•"/>
            </a:pPr>
            <a:r>
              <a:rPr lang="en-US" sz="1300"/>
              <a:t>Some of our datasets contained missing values for some countries. </a:t>
            </a:r>
            <a:endParaRPr/>
          </a:p>
          <a:p>
            <a:pPr marL="137160" marR="0" lvl="0" indent="-137160" algn="l" rtl="0">
              <a:lnSpc>
                <a:spcPct val="100000"/>
              </a:lnSpc>
              <a:spcBef>
                <a:spcPts val="400"/>
              </a:spcBef>
              <a:spcAft>
                <a:spcPts val="0"/>
              </a:spcAft>
              <a:buClr>
                <a:schemeClr val="accent1"/>
              </a:buClr>
              <a:buSzPts val="1300"/>
              <a:buFont typeface="Arial"/>
              <a:buChar char="•"/>
            </a:pPr>
            <a:r>
              <a:rPr lang="en-US" sz="1300"/>
              <a:t>The indicators chosen might not be the best proxies for the questions we’re trying to explore. For example, food supply might not be a good proxy for food consumption. </a:t>
            </a:r>
            <a:endParaRPr/>
          </a:p>
          <a:p>
            <a:pPr marL="0" marR="0" lvl="0" indent="0" algn="l" rtl="0">
              <a:lnSpc>
                <a:spcPct val="100000"/>
              </a:lnSpc>
              <a:spcBef>
                <a:spcPts val="400"/>
              </a:spcBef>
              <a:spcAft>
                <a:spcPts val="0"/>
              </a:spcAft>
              <a:buNone/>
            </a:pPr>
            <a:endParaRPr sz="1300" b="0" i="0" u="none" strike="noStrike" cap="none">
              <a:solidFill>
                <a:srgbClr val="000000"/>
              </a:solidFill>
              <a:latin typeface="Arial"/>
              <a:ea typeface="Arial"/>
              <a:cs typeface="Arial"/>
              <a:sym typeface="Arial"/>
            </a:endParaRPr>
          </a:p>
        </p:txBody>
      </p:sp>
      <p:sp>
        <p:nvSpPr>
          <p:cNvPr id="294" name="Google Shape;294;p14"/>
          <p:cNvSpPr txBox="1"/>
          <p:nvPr/>
        </p:nvSpPr>
        <p:spPr>
          <a:xfrm>
            <a:off x="3279375" y="1943025"/>
            <a:ext cx="25851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600">
                <a:solidFill>
                  <a:schemeClr val="dk1"/>
                </a:solidFill>
                <a:latin typeface="Lato Black"/>
                <a:ea typeface="Lato Black"/>
                <a:cs typeface="Lato Black"/>
                <a:sym typeface="Lato Black"/>
              </a:rPr>
              <a:t>Model Performance </a:t>
            </a:r>
            <a:endParaRPr sz="1600">
              <a:latin typeface="Lato Black"/>
              <a:ea typeface="Lato Black"/>
              <a:cs typeface="Lato Black"/>
              <a:sym typeface="Lato Black"/>
            </a:endParaRPr>
          </a:p>
        </p:txBody>
      </p:sp>
      <p:cxnSp>
        <p:nvCxnSpPr>
          <p:cNvPr id="295" name="Google Shape;295;p14"/>
          <p:cNvCxnSpPr/>
          <p:nvPr/>
        </p:nvCxnSpPr>
        <p:spPr>
          <a:xfrm rot="10800000" flipH="1">
            <a:off x="3348517" y="2310556"/>
            <a:ext cx="2516100" cy="3300"/>
          </a:xfrm>
          <a:prstGeom prst="straightConnector1">
            <a:avLst/>
          </a:prstGeom>
          <a:noFill/>
          <a:ln w="19050" cap="flat" cmpd="sng">
            <a:solidFill>
              <a:schemeClr val="accent2"/>
            </a:solidFill>
            <a:prstDash val="solid"/>
            <a:round/>
            <a:headEnd type="none" w="sm" len="sm"/>
            <a:tailEnd type="none" w="sm" len="sm"/>
          </a:ln>
        </p:spPr>
      </p:cxnSp>
      <p:sp>
        <p:nvSpPr>
          <p:cNvPr id="296" name="Google Shape;296;p14"/>
          <p:cNvSpPr txBox="1"/>
          <p:nvPr/>
        </p:nvSpPr>
        <p:spPr>
          <a:xfrm>
            <a:off x="3348528" y="2466225"/>
            <a:ext cx="2516100" cy="1995300"/>
          </a:xfrm>
          <a:prstGeom prst="rect">
            <a:avLst/>
          </a:prstGeom>
          <a:noFill/>
          <a:ln>
            <a:noFill/>
          </a:ln>
        </p:spPr>
        <p:txBody>
          <a:bodyPr spcFirstLastPara="1" wrap="square" lIns="91425" tIns="45700" rIns="91425" bIns="45700" anchor="t" anchorCtr="0">
            <a:noAutofit/>
          </a:bodyPr>
          <a:lstStyle/>
          <a:p>
            <a:pPr marL="137160" marR="0" lvl="0" indent="-137160" algn="l" rtl="0">
              <a:lnSpc>
                <a:spcPct val="100000"/>
              </a:lnSpc>
              <a:spcBef>
                <a:spcPts val="400"/>
              </a:spcBef>
              <a:spcAft>
                <a:spcPts val="0"/>
              </a:spcAft>
              <a:buClr>
                <a:schemeClr val="accent1"/>
              </a:buClr>
              <a:buSzPts val="1300"/>
              <a:buChar char="•"/>
            </a:pPr>
            <a:r>
              <a:rPr lang="en-US" sz="1300"/>
              <a:t>Insufficient amount of data points (~150).</a:t>
            </a:r>
            <a:endParaRPr sz="1300"/>
          </a:p>
          <a:p>
            <a:pPr marL="137160" marR="0" lvl="0" indent="-137160" algn="l" rtl="0">
              <a:lnSpc>
                <a:spcPct val="100000"/>
              </a:lnSpc>
              <a:spcBef>
                <a:spcPts val="400"/>
              </a:spcBef>
              <a:spcAft>
                <a:spcPts val="0"/>
              </a:spcAft>
              <a:buClr>
                <a:schemeClr val="accent1"/>
              </a:buClr>
              <a:buSzPts val="1300"/>
              <a:buChar char="•"/>
            </a:pPr>
            <a:r>
              <a:rPr lang="en-US" sz="1300"/>
              <a:t>Strong correlation among the explanatory variables.</a:t>
            </a:r>
            <a:endParaRPr sz="1300"/>
          </a:p>
          <a:p>
            <a:pPr marL="137160" marR="0" lvl="0" indent="-137160" algn="l" rtl="0">
              <a:lnSpc>
                <a:spcPct val="100000"/>
              </a:lnSpc>
              <a:spcBef>
                <a:spcPts val="400"/>
              </a:spcBef>
              <a:spcAft>
                <a:spcPts val="0"/>
              </a:spcAft>
              <a:buClr>
                <a:schemeClr val="accent1"/>
              </a:buClr>
              <a:buSzPts val="1300"/>
              <a:buChar char="•"/>
            </a:pPr>
            <a:r>
              <a:rPr lang="en-US" sz="1300"/>
              <a:t>Common proverbs are probably not the best starting point for prediction models :).</a:t>
            </a:r>
            <a:endParaRPr sz="1300"/>
          </a:p>
          <a:p>
            <a:pPr marL="457200" marR="0" lvl="0" indent="0" algn="l" rtl="0">
              <a:lnSpc>
                <a:spcPct val="100000"/>
              </a:lnSpc>
              <a:spcBef>
                <a:spcPts val="400"/>
              </a:spcBef>
              <a:spcAft>
                <a:spcPts val="0"/>
              </a:spcAft>
              <a:buNone/>
            </a:pPr>
            <a:endParaRPr sz="1300"/>
          </a:p>
          <a:p>
            <a:pPr marL="0" marR="0" lvl="0" indent="0" algn="l" rtl="0">
              <a:lnSpc>
                <a:spcPct val="100000"/>
              </a:lnSpc>
              <a:spcBef>
                <a:spcPts val="400"/>
              </a:spcBef>
              <a:spcAft>
                <a:spcPts val="0"/>
              </a:spcAft>
              <a:buNone/>
            </a:pPr>
            <a:endParaRPr sz="1300" b="0" i="0" u="none" strike="noStrike" cap="none">
              <a:solidFill>
                <a:srgbClr val="000000"/>
              </a:solidFill>
              <a:latin typeface="Arial"/>
              <a:ea typeface="Arial"/>
              <a:cs typeface="Arial"/>
              <a:sym typeface="Arial"/>
            </a:endParaRPr>
          </a:p>
        </p:txBody>
      </p:sp>
      <p:sp>
        <p:nvSpPr>
          <p:cNvPr id="297" name="Google Shape;297;p14"/>
          <p:cNvSpPr txBox="1"/>
          <p:nvPr/>
        </p:nvSpPr>
        <p:spPr>
          <a:xfrm>
            <a:off x="6134250" y="1943025"/>
            <a:ext cx="25851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600">
                <a:solidFill>
                  <a:schemeClr val="dk1"/>
                </a:solidFill>
                <a:latin typeface="Lato Black"/>
                <a:ea typeface="Lato Black"/>
                <a:cs typeface="Lato Black"/>
                <a:sym typeface="Lato Black"/>
              </a:rPr>
              <a:t>Confounding Factors  </a:t>
            </a:r>
            <a:endParaRPr sz="1600">
              <a:latin typeface="Lato Black"/>
              <a:ea typeface="Lato Black"/>
              <a:cs typeface="Lato Black"/>
              <a:sym typeface="Lato Black"/>
            </a:endParaRPr>
          </a:p>
        </p:txBody>
      </p:sp>
      <p:cxnSp>
        <p:nvCxnSpPr>
          <p:cNvPr id="298" name="Google Shape;298;p14"/>
          <p:cNvCxnSpPr/>
          <p:nvPr/>
        </p:nvCxnSpPr>
        <p:spPr>
          <a:xfrm rot="10800000" flipH="1">
            <a:off x="6203392" y="2310556"/>
            <a:ext cx="2516100" cy="3300"/>
          </a:xfrm>
          <a:prstGeom prst="straightConnector1">
            <a:avLst/>
          </a:prstGeom>
          <a:noFill/>
          <a:ln w="19050" cap="flat" cmpd="sng">
            <a:solidFill>
              <a:schemeClr val="accent2"/>
            </a:solidFill>
            <a:prstDash val="solid"/>
            <a:round/>
            <a:headEnd type="none" w="sm" len="sm"/>
            <a:tailEnd type="none" w="sm" len="sm"/>
          </a:ln>
        </p:spPr>
      </p:cxnSp>
      <p:sp>
        <p:nvSpPr>
          <p:cNvPr id="299" name="Google Shape;299;p14"/>
          <p:cNvSpPr txBox="1"/>
          <p:nvPr/>
        </p:nvSpPr>
        <p:spPr>
          <a:xfrm>
            <a:off x="6203403" y="2466225"/>
            <a:ext cx="2516100" cy="1995300"/>
          </a:xfrm>
          <a:prstGeom prst="rect">
            <a:avLst/>
          </a:prstGeom>
          <a:noFill/>
          <a:ln>
            <a:noFill/>
          </a:ln>
        </p:spPr>
        <p:txBody>
          <a:bodyPr spcFirstLastPara="1" wrap="square" lIns="91425" tIns="45700" rIns="91425" bIns="45700" anchor="t" anchorCtr="0">
            <a:noAutofit/>
          </a:bodyPr>
          <a:lstStyle/>
          <a:p>
            <a:pPr marL="137160" marR="0" lvl="0" indent="-137160" algn="l" rtl="0">
              <a:lnSpc>
                <a:spcPct val="100000"/>
              </a:lnSpc>
              <a:spcBef>
                <a:spcPts val="400"/>
              </a:spcBef>
              <a:spcAft>
                <a:spcPts val="0"/>
              </a:spcAft>
              <a:buClr>
                <a:schemeClr val="accent1"/>
              </a:buClr>
              <a:buSzPts val="1300"/>
              <a:buFont typeface="Arial"/>
              <a:buChar char="•"/>
            </a:pPr>
            <a:r>
              <a:rPr lang="en-US" sz="1300"/>
              <a:t>Difficult to determine the actual impact of these measures because they are highly correlated with other factors. Food supply and alcohol consumption, are highly correlated with wealth, for example. </a:t>
            </a:r>
            <a:endParaRPr/>
          </a:p>
          <a:p>
            <a:pPr marL="0" marR="0" lvl="0" indent="0" algn="l" rtl="0">
              <a:lnSpc>
                <a:spcPct val="100000"/>
              </a:lnSpc>
              <a:spcBef>
                <a:spcPts val="400"/>
              </a:spcBef>
              <a:spcAft>
                <a:spcPts val="0"/>
              </a:spcAft>
              <a:buNone/>
            </a:pP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6"/>
          <p:cNvSpPr txBox="1">
            <a:spLocks noGrp="1"/>
          </p:cNvSpPr>
          <p:nvPr>
            <p:ph type="ctrTitle" idx="4294967295"/>
          </p:nvPr>
        </p:nvSpPr>
        <p:spPr>
          <a:xfrm>
            <a:off x="916025" y="726100"/>
            <a:ext cx="7837500" cy="1159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6"/>
              </a:buClr>
              <a:buSzPts val="3200"/>
              <a:buFont typeface="Raleway"/>
              <a:buNone/>
            </a:pPr>
            <a:r>
              <a:rPr lang="en-US" sz="5000">
                <a:solidFill>
                  <a:srgbClr val="FDB519"/>
                </a:solidFill>
              </a:rPr>
              <a:t>Don’t worry, be happy</a:t>
            </a:r>
            <a:r>
              <a:rPr lang="en-US" sz="5000" b="0" i="0" u="none" strike="noStrike" cap="none">
                <a:solidFill>
                  <a:srgbClr val="FDB519"/>
                </a:solidFill>
                <a:latin typeface="Raleway"/>
                <a:ea typeface="Raleway"/>
                <a:cs typeface="Raleway"/>
                <a:sym typeface="Raleway"/>
              </a:rPr>
              <a:t>!</a:t>
            </a:r>
            <a:endParaRPr sz="5000" b="0" i="0" u="none" strike="noStrike" cap="none">
              <a:solidFill>
                <a:srgbClr val="FDB519"/>
              </a:solidFill>
              <a:latin typeface="Raleway"/>
              <a:ea typeface="Raleway"/>
              <a:cs typeface="Raleway"/>
              <a:sym typeface="Raleway"/>
            </a:endParaRPr>
          </a:p>
        </p:txBody>
      </p:sp>
      <p:sp>
        <p:nvSpPr>
          <p:cNvPr id="305" name="Google Shape;305;p16"/>
          <p:cNvSpPr txBox="1">
            <a:spLocks noGrp="1"/>
          </p:cNvSpPr>
          <p:nvPr>
            <p:ph type="subTitle" idx="4294967295"/>
          </p:nvPr>
        </p:nvSpPr>
        <p:spPr>
          <a:xfrm>
            <a:off x="916025" y="1754213"/>
            <a:ext cx="5561100" cy="78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accent6"/>
              </a:buClr>
              <a:buSzPts val="2400"/>
              <a:buFont typeface="Lato"/>
              <a:buNone/>
            </a:pPr>
            <a:r>
              <a:rPr lang="en-US" sz="4800" b="1" i="0" u="none" strike="noStrike" cap="none">
                <a:solidFill>
                  <a:schemeClr val="lt1"/>
                </a:solidFill>
                <a:latin typeface="Lato"/>
                <a:ea typeface="Lato"/>
                <a:cs typeface="Lato"/>
                <a:sym typeface="Lato"/>
              </a:rPr>
              <a:t>Any questions?</a:t>
            </a:r>
            <a:endParaRPr sz="4800" b="1" i="0" u="none" strike="noStrike" cap="none">
              <a:solidFill>
                <a:schemeClr val="lt1"/>
              </a:solidFill>
              <a:latin typeface="Lato"/>
              <a:ea typeface="Lato"/>
              <a:cs typeface="Lato"/>
              <a:sym typeface="Lato"/>
            </a:endParaRPr>
          </a:p>
        </p:txBody>
      </p:sp>
      <p:sp>
        <p:nvSpPr>
          <p:cNvPr id="306" name="Google Shape;306;p16"/>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24</a:t>
            </a:fld>
            <a:endParaRPr/>
          </a:p>
        </p:txBody>
      </p:sp>
    </p:spTree>
  </p:cSld>
  <p:clrMapOvr>
    <a:masterClrMapping/>
  </p:clrMapOvr>
</p:sld>
</file>

<file path=ppt/theme/theme1.xml><?xml version="1.0" encoding="utf-8"?>
<a:theme xmlns:a="http://schemas.openxmlformats.org/drawingml/2006/main" name="Antonio template">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1138</Words>
  <Application>Microsoft Macintosh PowerPoint</Application>
  <PresentationFormat>On-screen Show (16:9)</PresentationFormat>
  <Paragraphs>153</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Raleway</vt:lpstr>
      <vt:lpstr>Lato Black</vt:lpstr>
      <vt:lpstr>Lato</vt:lpstr>
      <vt:lpstr>Arial</vt:lpstr>
      <vt:lpstr>Antonio template</vt:lpstr>
      <vt:lpstr>What drives happiness?</vt:lpstr>
      <vt:lpstr>What we’ll cover today</vt:lpstr>
      <vt:lpstr>Purpose</vt:lpstr>
      <vt:lpstr>Background and Methodology</vt:lpstr>
      <vt:lpstr>How happy is the world?</vt:lpstr>
      <vt:lpstr>The top countries in terms of happiness are all in Northern Europe</vt:lpstr>
      <vt:lpstr>Happiness scores vary strongly across continents</vt:lpstr>
      <vt:lpstr>PowerPoint Presentation</vt:lpstr>
      <vt:lpstr>Where are the riches?</vt:lpstr>
      <vt:lpstr>Economic factors are an important foundation to happiness</vt:lpstr>
      <vt:lpstr>Money buys happiness, regardless of income inequality</vt:lpstr>
      <vt:lpstr>PowerPoint Presentation</vt:lpstr>
      <vt:lpstr>In happier countries, people drink more</vt:lpstr>
      <vt:lpstr>Countries that consume wine the most are the happiest</vt:lpstr>
      <vt:lpstr>PowerPoint Presentation</vt:lpstr>
      <vt:lpstr>Food makes people happy </vt:lpstr>
      <vt:lpstr>Happy as a clam? </vt:lpstr>
      <vt:lpstr>PowerPoint Presentation</vt:lpstr>
      <vt:lpstr>Gender equality across the world </vt:lpstr>
      <vt:lpstr>More equal countries tend to be happier</vt:lpstr>
      <vt:lpstr>Decision Tree Model </vt:lpstr>
      <vt:lpstr>Predicting the UK’s happiness score </vt:lpstr>
      <vt:lpstr>Limitations and what we’ve learned</vt:lpstr>
      <vt:lpstr>Don’t worry, be happy!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drives happiness?</dc:title>
  <cp:lastModifiedBy>Keshav Asokan</cp:lastModifiedBy>
  <cp:revision>2</cp:revision>
  <dcterms:modified xsi:type="dcterms:W3CDTF">2025-06-21T17:33:03Z</dcterms:modified>
</cp:coreProperties>
</file>